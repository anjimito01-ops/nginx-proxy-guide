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slide" Target="slides/slide2.xml"/>
<Relationship Id="rId4" Type="http://schemas.openxmlformats.org/officeDocument/2006/relationships/slide" Target="slides/slide3.xml"/>
<Relationship Id="rId5" Type="http://schemas.openxmlformats.org/officeDocument/2006/relationships/slide" Target="slides/slide4.xml"/>
<Relationship Id="rId6" Type="http://schemas.openxmlformats.org/officeDocument/2006/relationships/slide" Target="slides/slide5.xml"/>
<Relationship Id="rId7" Type="http://schemas.openxmlformats.org/officeDocument/2006/relationships/slide" Target="slides/slide6.xml"/>
<Relationship Id="rId8" Type="http://schemas.openxmlformats.org/officeDocument/2006/relationships/slide" Target="slides/slide7.xml"/>
<Relationship Id="rId9" Type="http://schemas.openxmlformats.org/officeDocument/2006/relationships/slide" Target="slides/slide8.xml"/>
<Relationship Id="rId10" Type="http://schemas.openxmlformats.org/officeDocument/2006/relationships/slide" Target="slides/slide9.xml"/>
<Relationship Id="rId11" Type="http://schemas.openxmlformats.org/officeDocument/2006/relationships/slide" Target="slides/slide10.xml"/>
<Relationship Id="rId12" Type="http://schemas.openxmlformats.org/officeDocument/2006/relationships/slide" Target="slides/slide11.xml"/>
<Relationship Id="rId13" Type="http://schemas.openxmlformats.org/officeDocument/2006/relationships/slide" Target="slides/slide12.xml"/>
<Relationship Id="rId14" Type="http://schemas.openxmlformats.org/officeDocument/2006/relationships/slide" Target="slides/slide13.xml"/>
<Relationship Id="rId15" Type="http://schemas.openxmlformats.org/officeDocument/2006/relationships/slide" Target="slides/slide14.xml"/>
<Relationship Id="rId16" Type="http://schemas.openxmlformats.org/officeDocument/2006/relationships/slide" Target="slides/slide15.xml"/>
<Relationship Id="rId17" Type="http://schemas.openxmlformats.org/officeDocument/2006/relationships/theme" Target="theme/theme1.xml"/>
</Relationships>
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/>
              <a:t> </a:t>
            </a:r>
          </a:p>
        </p:txBody>
      </p:sp>
      <p:sp>
        <p:nvSpPr>
          <p:cNvPr id="3" name="Body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/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1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1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1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1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1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1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Oval3"/>
          <p:cNvSpPr/>
          <p:nvPr/>
        </p:nvSpPr>
        <p:spPr>
          <a:xfrm>
            <a:off x="9692640" y="-1280160"/>
            <a:ext cx="5029200" cy="50292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Oval4"/>
          <p:cNvSpPr/>
          <p:nvPr/>
        </p:nvSpPr>
        <p:spPr>
          <a:xfrm>
            <a:off x="10332720" y="4206240"/>
            <a:ext cx="3840480" cy="384048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Rect5"/>
          <p:cNvSpPr/>
          <p:nvPr/>
        </p:nvSpPr>
        <p:spPr>
          <a:xfrm>
            <a:off x="822960" y="2331720"/>
            <a:ext cx="82296" cy="1554480"/>
          </a:xfrm>
          <a:prstGeom prst="rect">
            <a:avLst/>
          </a:prstGeom>
          <a:solidFill>
            <a:srgbClr val="E874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Text6"/>
          <p:cNvSpPr txBox="1"/>
          <p:nvPr/>
        </p:nvSpPr>
        <p:spPr>
          <a:xfrm>
            <a:off x="1143000" y="2240280"/>
            <a:ext cx="86868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sz="1600" b="1">
                <a:solidFill>
                  <a:srgbClr val="9FD8DF"/>
                </a:solidFill>
                <a:latin typeface="Calibri"/>
                <a:ea typeface="Yu Gothic UI"/>
              </a:rPr>
              <a:t>新入社員研修</a:t>
            </a:r>
          </a:p>
        </p:txBody>
      </p:sp>
      <p:sp>
        <p:nvSpPr>
          <p:cNvPr id="7" name="Text7"/>
          <p:cNvSpPr txBox="1"/>
          <p:nvPr/>
        </p:nvSpPr>
        <p:spPr>
          <a:xfrm>
            <a:off x="1097280" y="2606040"/>
            <a:ext cx="9601200" cy="1371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sz="4600" b="1">
                <a:solidFill>
                  <a:srgbClr val="FFFFFF"/>
                </a:solidFill>
                <a:latin typeface="Trebuchet MS"/>
                <a:ea typeface="Yu Gothic UI"/>
              </a:rPr>
              <a:t>仮想化基盤入門</a:t>
            </a:r>
          </a:p>
        </p:txBody>
      </p:sp>
      <p:sp>
        <p:nvSpPr>
          <p:cNvPr id="8" name="Text8"/>
          <p:cNvSpPr txBox="1"/>
          <p:nvPr/>
        </p:nvSpPr>
        <p:spPr>
          <a:xfrm>
            <a:off x="1143000" y="3520440"/>
            <a:ext cx="960120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sz="1800">
                <a:solidFill>
                  <a:srgbClr val="9FD8DF"/>
                </a:solidFill>
                <a:latin typeface="Calibri"/>
                <a:ea typeface="Yu Gothic UI"/>
              </a:rPr>
              <a:t>一般的なサーバ仮想化の基礎から、Nutanixハイパーコンバージド基盤まで</a:t>
            </a:r>
          </a:p>
        </p:txBody>
      </p:sp>
      <p:sp>
        <p:nvSpPr>
          <p:cNvPr id="9" name="Text9"/>
          <p:cNvSpPr txBox="1"/>
          <p:nvPr/>
        </p:nvSpPr>
        <p:spPr>
          <a:xfrm>
            <a:off x="1143000" y="6126480"/>
            <a:ext cx="54864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sz="1200">
                <a:solidFill>
                  <a:srgbClr val="CADCFC"/>
                </a:solidFill>
                <a:latin typeface="Calibri"/>
                <a:ea typeface="Yu Gothic UI"/>
              </a:rPr>
              <a:t>IT基盤チーム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3"/>
          <p:cNvSpPr txBox="1"/>
          <p:nvPr/>
        </p:nvSpPr>
        <p:spPr>
          <a:xfrm>
            <a:off x="548640" y="164592"/>
            <a:ext cx="731520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sz="1300" b="1">
                <a:solidFill>
                  <a:srgbClr val="9FD8DF"/>
                </a:solidFill>
                <a:latin typeface="Calibri"/>
                <a:ea typeface="Yu Gothic UI"/>
              </a:rPr>
              <a:t>AGENDA</a:t>
            </a:r>
          </a:p>
        </p:txBody>
      </p:sp>
      <p:sp>
        <p:nvSpPr>
          <p:cNvPr id="4" name="Text4"/>
          <p:cNvSpPr txBox="1"/>
          <p:nvPr/>
        </p:nvSpPr>
        <p:spPr>
          <a:xfrm>
            <a:off x="502920" y="411480"/>
            <a:ext cx="10058400" cy="5943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sz="2800" b="1">
                <a:solidFill>
                  <a:srgbClr val="FFFFFF"/>
                </a:solidFill>
                <a:latin typeface="Trebuchet MS"/>
                <a:ea typeface="Yu Gothic UI"/>
              </a:rPr>
              <a:t>本日のアジェンダ</a:t>
            </a:r>
          </a:p>
        </p:txBody>
      </p:sp>
      <p:sp>
        <p:nvSpPr>
          <p:cNvPr id="5" name="Oval5"/>
          <p:cNvSpPr/>
          <p:nvPr/>
        </p:nvSpPr>
        <p:spPr>
          <a:xfrm>
            <a:off x="11475720" y="320040"/>
            <a:ext cx="411480" cy="411480"/>
          </a:xfrm>
          <a:prstGeom prst="ellipse">
            <a:avLst/>
          </a:prstGeom>
          <a:solidFill>
            <a:srgbClr val="E874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Rect6"/>
          <p:cNvSpPr/>
          <p:nvPr/>
        </p:nvSpPr>
        <p:spPr>
          <a:xfrm>
            <a:off x="548640" y="1463040"/>
            <a:ext cx="3611880" cy="1417320"/>
          </a:xfrm>
          <a:prstGeom prst="roundRect">
            <a:avLst/>
          </a:prstGeom>
          <a:solidFill>
            <a:srgbClr val="F2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Oval7"/>
          <p:cNvSpPr/>
          <p:nvPr/>
        </p:nvSpPr>
        <p:spPr>
          <a:xfrm>
            <a:off x="777240" y="1691640"/>
            <a:ext cx="548640" cy="54864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Text8"/>
          <p:cNvSpPr txBox="1"/>
          <p:nvPr/>
        </p:nvSpPr>
        <p:spPr>
          <a:xfrm>
            <a:off x="777240" y="1737360"/>
            <a:ext cx="54864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ja-JP" sz="1600" b="1">
                <a:solidFill>
                  <a:srgbClr val="FFFFFF"/>
                </a:solidFill>
                <a:latin typeface="Calibri"/>
                <a:ea typeface="Yu Gothic UI"/>
              </a:rPr>
              <a:t>01</a:t>
            </a:r>
          </a:p>
        </p:txBody>
      </p:sp>
      <p:sp>
        <p:nvSpPr>
          <p:cNvPr id="9" name="Text9"/>
          <p:cNvSpPr txBox="1"/>
          <p:nvPr/>
        </p:nvSpPr>
        <p:spPr>
          <a:xfrm>
            <a:off x="1463040" y="1664208"/>
            <a:ext cx="2514600" cy="8229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lang="ja-JP" sz="1500" b="1">
                <a:solidFill>
                  <a:srgbClr val="2A2A33"/>
                </a:solidFill>
                <a:latin typeface="Calibri"/>
                <a:ea typeface="Yu Gothic UI"/>
              </a:rPr>
              <a:t>物理サーバーの課題</a:t>
            </a:r>
          </a:p>
        </p:txBody>
      </p:sp>
      <p:sp>
        <p:nvSpPr>
          <p:cNvPr id="10" name="Rect10"/>
          <p:cNvSpPr/>
          <p:nvPr/>
        </p:nvSpPr>
        <p:spPr>
          <a:xfrm>
            <a:off x="4389120" y="1463040"/>
            <a:ext cx="3611880" cy="1417320"/>
          </a:xfrm>
          <a:prstGeom prst="roundRect">
            <a:avLst/>
          </a:prstGeom>
          <a:solidFill>
            <a:srgbClr val="F2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Oval11"/>
          <p:cNvSpPr/>
          <p:nvPr/>
        </p:nvSpPr>
        <p:spPr>
          <a:xfrm>
            <a:off x="4617720" y="1691640"/>
            <a:ext cx="548640" cy="54864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Text12"/>
          <p:cNvSpPr txBox="1"/>
          <p:nvPr/>
        </p:nvSpPr>
        <p:spPr>
          <a:xfrm>
            <a:off x="4617720" y="1737360"/>
            <a:ext cx="54864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ja-JP" sz="1600" b="1">
                <a:solidFill>
                  <a:srgbClr val="FFFFFF"/>
                </a:solidFill>
                <a:latin typeface="Calibri"/>
                <a:ea typeface="Yu Gothic UI"/>
              </a:rPr>
              <a:t>02</a:t>
            </a:r>
          </a:p>
        </p:txBody>
      </p:sp>
      <p:sp>
        <p:nvSpPr>
          <p:cNvPr id="13" name="Text13"/>
          <p:cNvSpPr txBox="1"/>
          <p:nvPr/>
        </p:nvSpPr>
        <p:spPr>
          <a:xfrm>
            <a:off x="5303520" y="1664208"/>
            <a:ext cx="2514600" cy="8229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lang="ja-JP" sz="1500" b="1">
                <a:solidFill>
                  <a:srgbClr val="2A2A33"/>
                </a:solidFill>
                <a:latin typeface="Calibri"/>
                <a:ea typeface="Yu Gothic UI"/>
              </a:rPr>
              <a:t>サーバ仮想化とは</a:t>
            </a:r>
          </a:p>
        </p:txBody>
      </p:sp>
      <p:sp>
        <p:nvSpPr>
          <p:cNvPr id="14" name="Rect14"/>
          <p:cNvSpPr/>
          <p:nvPr/>
        </p:nvSpPr>
        <p:spPr>
          <a:xfrm>
            <a:off x="8229600" y="1463040"/>
            <a:ext cx="3611880" cy="1417320"/>
          </a:xfrm>
          <a:prstGeom prst="roundRect">
            <a:avLst/>
          </a:prstGeom>
          <a:solidFill>
            <a:srgbClr val="F2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Oval15"/>
          <p:cNvSpPr/>
          <p:nvPr/>
        </p:nvSpPr>
        <p:spPr>
          <a:xfrm>
            <a:off x="8458200" y="1691640"/>
            <a:ext cx="548640" cy="54864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Text16"/>
          <p:cNvSpPr txBox="1"/>
          <p:nvPr/>
        </p:nvSpPr>
        <p:spPr>
          <a:xfrm>
            <a:off x="8458200" y="1737360"/>
            <a:ext cx="54864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ja-JP" sz="1600" b="1">
                <a:solidFill>
                  <a:srgbClr val="FFFFFF"/>
                </a:solidFill>
                <a:latin typeface="Calibri"/>
                <a:ea typeface="Yu Gothic UI"/>
              </a:rPr>
              <a:t>03</a:t>
            </a:r>
          </a:p>
        </p:txBody>
      </p:sp>
      <p:sp>
        <p:nvSpPr>
          <p:cNvPr id="17" name="Text17"/>
          <p:cNvSpPr txBox="1"/>
          <p:nvPr/>
        </p:nvSpPr>
        <p:spPr>
          <a:xfrm>
            <a:off x="9144000" y="1664208"/>
            <a:ext cx="2514600" cy="8229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lang="ja-JP" sz="1500" b="1">
                <a:solidFill>
                  <a:srgbClr val="2A2A33"/>
                </a:solidFill>
                <a:latin typeface="Calibri"/>
                <a:ea typeface="Yu Gothic UI"/>
              </a:rPr>
              <a:t>仮想化の仕組みとメリット</a:t>
            </a:r>
          </a:p>
        </p:txBody>
      </p:sp>
      <p:sp>
        <p:nvSpPr>
          <p:cNvPr id="18" name="Rect18"/>
          <p:cNvSpPr/>
          <p:nvPr/>
        </p:nvSpPr>
        <p:spPr>
          <a:xfrm>
            <a:off x="548640" y="3154680"/>
            <a:ext cx="3611880" cy="1417320"/>
          </a:xfrm>
          <a:prstGeom prst="roundRect">
            <a:avLst/>
          </a:prstGeom>
          <a:solidFill>
            <a:srgbClr val="F2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Oval19"/>
          <p:cNvSpPr/>
          <p:nvPr/>
        </p:nvSpPr>
        <p:spPr>
          <a:xfrm>
            <a:off x="777240" y="3383280"/>
            <a:ext cx="548640" cy="54864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Text20"/>
          <p:cNvSpPr txBox="1"/>
          <p:nvPr/>
        </p:nvSpPr>
        <p:spPr>
          <a:xfrm>
            <a:off x="777240" y="3429000"/>
            <a:ext cx="54864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ja-JP" sz="1600" b="1">
                <a:solidFill>
                  <a:srgbClr val="FFFFFF"/>
                </a:solidFill>
                <a:latin typeface="Calibri"/>
                <a:ea typeface="Yu Gothic UI"/>
              </a:rPr>
              <a:t>04</a:t>
            </a:r>
          </a:p>
        </p:txBody>
      </p:sp>
      <p:sp>
        <p:nvSpPr>
          <p:cNvPr id="21" name="Text21"/>
          <p:cNvSpPr txBox="1"/>
          <p:nvPr/>
        </p:nvSpPr>
        <p:spPr>
          <a:xfrm>
            <a:off x="1463040" y="3355848"/>
            <a:ext cx="2514600" cy="8229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lang="ja-JP" sz="1500" b="1">
                <a:solidFill>
                  <a:srgbClr val="2A2A33"/>
                </a:solidFill>
                <a:latin typeface="Calibri"/>
                <a:ea typeface="Yu Gothic UI"/>
              </a:rPr>
              <a:t>従来型仮想化基盤とHCI</a:t>
            </a:r>
          </a:p>
        </p:txBody>
      </p:sp>
      <p:sp>
        <p:nvSpPr>
          <p:cNvPr id="22" name="Rect22"/>
          <p:cNvSpPr/>
          <p:nvPr/>
        </p:nvSpPr>
        <p:spPr>
          <a:xfrm>
            <a:off x="4389120" y="3154680"/>
            <a:ext cx="3611880" cy="1417320"/>
          </a:xfrm>
          <a:prstGeom prst="roundRect">
            <a:avLst/>
          </a:prstGeom>
          <a:solidFill>
            <a:srgbClr val="F2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" name="Oval23"/>
          <p:cNvSpPr/>
          <p:nvPr/>
        </p:nvSpPr>
        <p:spPr>
          <a:xfrm>
            <a:off x="4617720" y="3383280"/>
            <a:ext cx="548640" cy="54864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" name="Text24"/>
          <p:cNvSpPr txBox="1"/>
          <p:nvPr/>
        </p:nvSpPr>
        <p:spPr>
          <a:xfrm>
            <a:off x="4617720" y="3429000"/>
            <a:ext cx="54864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ja-JP" sz="1600" b="1">
                <a:solidFill>
                  <a:srgbClr val="FFFFFF"/>
                </a:solidFill>
                <a:latin typeface="Calibri"/>
                <a:ea typeface="Yu Gothic UI"/>
              </a:rPr>
              <a:t>05</a:t>
            </a:r>
          </a:p>
        </p:txBody>
      </p:sp>
      <p:sp>
        <p:nvSpPr>
          <p:cNvPr id="25" name="Text25"/>
          <p:cNvSpPr txBox="1"/>
          <p:nvPr/>
        </p:nvSpPr>
        <p:spPr>
          <a:xfrm>
            <a:off x="5303520" y="3355848"/>
            <a:ext cx="2514600" cy="8229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lang="ja-JP" sz="1500" b="1">
                <a:solidFill>
                  <a:srgbClr val="2A2A33"/>
                </a:solidFill>
                <a:latin typeface="Calibri"/>
                <a:ea typeface="Yu Gothic UI"/>
              </a:rPr>
              <a:t>Nutanix仮想基盤の概要</a:t>
            </a:r>
          </a:p>
        </p:txBody>
      </p:sp>
      <p:sp>
        <p:nvSpPr>
          <p:cNvPr id="26" name="Rect26"/>
          <p:cNvSpPr/>
          <p:nvPr/>
        </p:nvSpPr>
        <p:spPr>
          <a:xfrm>
            <a:off x="8229600" y="3154680"/>
            <a:ext cx="3611880" cy="1417320"/>
          </a:xfrm>
          <a:prstGeom prst="roundRect">
            <a:avLst/>
          </a:prstGeom>
          <a:solidFill>
            <a:srgbClr val="F2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7" name="Oval27"/>
          <p:cNvSpPr/>
          <p:nvPr/>
        </p:nvSpPr>
        <p:spPr>
          <a:xfrm>
            <a:off x="8458200" y="3383280"/>
            <a:ext cx="548640" cy="54864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8" name="Text28"/>
          <p:cNvSpPr txBox="1"/>
          <p:nvPr/>
        </p:nvSpPr>
        <p:spPr>
          <a:xfrm>
            <a:off x="8458200" y="3429000"/>
            <a:ext cx="54864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ja-JP" sz="1600" b="1">
                <a:solidFill>
                  <a:srgbClr val="FFFFFF"/>
                </a:solidFill>
                <a:latin typeface="Calibri"/>
                <a:ea typeface="Yu Gothic UI"/>
              </a:rPr>
              <a:t>06</a:t>
            </a:r>
          </a:p>
        </p:txBody>
      </p:sp>
      <p:sp>
        <p:nvSpPr>
          <p:cNvPr id="29" name="Text29"/>
          <p:cNvSpPr txBox="1"/>
          <p:nvPr/>
        </p:nvSpPr>
        <p:spPr>
          <a:xfrm>
            <a:off x="9144000" y="3355848"/>
            <a:ext cx="2514600" cy="8229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lang="ja-JP" sz="1500" b="1">
                <a:solidFill>
                  <a:srgbClr val="2A2A33"/>
                </a:solidFill>
                <a:latin typeface="Calibri"/>
                <a:ea typeface="Yu Gothic UI"/>
              </a:rPr>
              <a:t>まとめ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3"/>
          <p:cNvSpPr txBox="1"/>
          <p:nvPr/>
        </p:nvSpPr>
        <p:spPr>
          <a:xfrm>
            <a:off x="548640" y="164592"/>
            <a:ext cx="731520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sz="1300" b="1">
                <a:solidFill>
                  <a:srgbClr val="9FD8DF"/>
                </a:solidFill>
                <a:latin typeface="Calibri"/>
                <a:ea typeface="Yu Gothic UI"/>
              </a:rPr>
              <a:t>BACKGROUND</a:t>
            </a:r>
          </a:p>
        </p:txBody>
      </p:sp>
      <p:sp>
        <p:nvSpPr>
          <p:cNvPr id="4" name="Text4"/>
          <p:cNvSpPr txBox="1"/>
          <p:nvPr/>
        </p:nvSpPr>
        <p:spPr>
          <a:xfrm>
            <a:off x="502920" y="411480"/>
            <a:ext cx="10058400" cy="5943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sz="2800" b="1">
                <a:solidFill>
                  <a:srgbClr val="FFFFFF"/>
                </a:solidFill>
                <a:latin typeface="Trebuchet MS"/>
                <a:ea typeface="Yu Gothic UI"/>
              </a:rPr>
              <a:t>物理サーバーの課題</a:t>
            </a:r>
          </a:p>
        </p:txBody>
      </p:sp>
      <p:sp>
        <p:nvSpPr>
          <p:cNvPr id="5" name="Oval5"/>
          <p:cNvSpPr/>
          <p:nvPr/>
        </p:nvSpPr>
        <p:spPr>
          <a:xfrm>
            <a:off x="11475720" y="320040"/>
            <a:ext cx="411480" cy="411480"/>
          </a:xfrm>
          <a:prstGeom prst="ellipse">
            <a:avLst/>
          </a:prstGeom>
          <a:solidFill>
            <a:srgbClr val="E874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Text6"/>
          <p:cNvSpPr txBox="1"/>
          <p:nvPr/>
        </p:nvSpPr>
        <p:spPr>
          <a:xfrm>
            <a:off x="548640" y="1371600"/>
            <a:ext cx="6858000" cy="731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sz="1600">
                <a:solidFill>
                  <a:srgbClr val="2A2A33"/>
                </a:solidFill>
                <a:latin typeface="Calibri"/>
                <a:ea typeface="Yu Gothic UI"/>
              </a:rPr>
              <a:t>従来は「1台の物理サーバーに1つのOS・アプリケーション」が基本でした。</a:t>
            </a:r>
          </a:p>
        </p:txBody>
      </p:sp>
      <p:sp>
        <p:nvSpPr>
          <p:cNvPr id="7" name="Bul7"/>
          <p:cNvSpPr txBox="1"/>
          <p:nvPr/>
        </p:nvSpPr>
        <p:spPr>
          <a:xfrm>
            <a:off x="548640" y="2103120"/>
            <a:ext cx="6949440" cy="34747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56032" indent="-256032">
              <a:spcAft>
                <a:spcPts val="1400"/>
              </a:spcAft>
              <a:buFont typeface="Arial"/>
              <a:buChar char="•"/>
            </a:pPr>
            <a:r>
              <a:rPr lang="ja-JP" sz="1600" b="0">
                <a:solidFill>
                  <a:srgbClr val="2A2A33"/>
                </a:solidFill>
                <a:latin typeface="Calibri"/>
                <a:ea typeface="Yu Gothic UI"/>
              </a:rPr>
              <a:t>サーバーの台数が増え、設置スペースや電力・空調コストが増大</a:t>
            </a:r>
          </a:p>
          <a:p>
            <a:pPr marL="256032" indent="-256032">
              <a:spcAft>
                <a:spcPts val="1400"/>
              </a:spcAft>
              <a:buFont typeface="Arial"/>
              <a:buChar char="•"/>
            </a:pPr>
            <a:r>
              <a:rPr lang="ja-JP" sz="1600" b="0">
                <a:solidFill>
                  <a:srgbClr val="2A2A33"/>
                </a:solidFill>
                <a:latin typeface="Calibri"/>
                <a:ea typeface="Yu Gothic UI"/>
              </a:rPr>
              <a:t>CPU/メモリ使用率が平均10〜20%程度と、リソースの大半が遊んでいる</a:t>
            </a:r>
          </a:p>
          <a:p>
            <a:pPr marL="256032" indent="-256032">
              <a:spcAft>
                <a:spcPts val="1400"/>
              </a:spcAft>
              <a:buFont typeface="Arial"/>
              <a:buChar char="•"/>
            </a:pPr>
            <a:r>
              <a:rPr lang="ja-JP" sz="1600" b="0">
                <a:solidFill>
                  <a:srgbClr val="2A2A33"/>
                </a:solidFill>
                <a:latin typeface="Calibri"/>
                <a:ea typeface="Yu Gothic UI"/>
              </a:rPr>
              <a:t>新規サーバー導入に発注〜納品〜設置で数週間〜数ヶ月かかる</a:t>
            </a:r>
          </a:p>
          <a:p>
            <a:pPr marL="256032" indent="-256032">
              <a:spcAft>
                <a:spcPts val="1400"/>
              </a:spcAft>
              <a:buFont typeface="Arial"/>
              <a:buChar char="•"/>
            </a:pPr>
            <a:r>
              <a:rPr lang="ja-JP" sz="1600" b="0">
                <a:solidFill>
                  <a:srgbClr val="2A2A33"/>
                </a:solidFill>
                <a:latin typeface="Calibri"/>
                <a:ea typeface="Yu Gothic UI"/>
              </a:rPr>
              <a:t>故障時はそのサーバー上の業務が停止し、復旧に時間がかかる</a:t>
            </a:r>
          </a:p>
        </p:txBody>
      </p:sp>
      <p:sp>
        <p:nvSpPr>
          <p:cNvPr id="8" name="Rect8"/>
          <p:cNvSpPr/>
          <p:nvPr/>
        </p:nvSpPr>
        <p:spPr>
          <a:xfrm>
            <a:off x="7955280" y="1554480"/>
            <a:ext cx="3108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1295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Rect9"/>
          <p:cNvSpPr/>
          <p:nvPr/>
        </p:nvSpPr>
        <p:spPr>
          <a:xfrm>
            <a:off x="8092440" y="1691640"/>
            <a:ext cx="914400" cy="5029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Rect10"/>
          <p:cNvSpPr/>
          <p:nvPr/>
        </p:nvSpPr>
        <p:spPr>
          <a:xfrm>
            <a:off x="9144000" y="1691640"/>
            <a:ext cx="1783080" cy="50292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Text11"/>
          <p:cNvSpPr txBox="1"/>
          <p:nvPr/>
        </p:nvSpPr>
        <p:spPr>
          <a:xfrm>
            <a:off x="8092440" y="1719072"/>
            <a:ext cx="914400" cy="4114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ja-JP" sz="1000" b="1">
                <a:solidFill>
                  <a:srgbClr val="FFFFFF"/>
                </a:solidFill>
                <a:latin typeface="Calibri"/>
                <a:ea typeface="Yu Gothic UI"/>
              </a:rPr>
              <a:t>使用中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9144000" y="1719072"/>
            <a:ext cx="1783080" cy="4114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ja-JP" sz="1000">
                <a:solidFill>
                  <a:srgbClr val="64748B"/>
                </a:solidFill>
                <a:latin typeface="Calibri"/>
                <a:ea typeface="Yu Gothic UI"/>
              </a:rPr>
              <a:t>未使用領域</a:t>
            </a:r>
          </a:p>
        </p:txBody>
      </p:sp>
      <p:sp>
        <p:nvSpPr>
          <p:cNvPr id="13" name="Rect13"/>
          <p:cNvSpPr/>
          <p:nvPr/>
        </p:nvSpPr>
        <p:spPr>
          <a:xfrm>
            <a:off x="7955280" y="2514600"/>
            <a:ext cx="3108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1295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Rect14"/>
          <p:cNvSpPr/>
          <p:nvPr/>
        </p:nvSpPr>
        <p:spPr>
          <a:xfrm>
            <a:off x="8092440" y="2651760"/>
            <a:ext cx="914400" cy="5029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Rect15"/>
          <p:cNvSpPr/>
          <p:nvPr/>
        </p:nvSpPr>
        <p:spPr>
          <a:xfrm>
            <a:off x="9144000" y="2651760"/>
            <a:ext cx="1783080" cy="50292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Text16"/>
          <p:cNvSpPr txBox="1"/>
          <p:nvPr/>
        </p:nvSpPr>
        <p:spPr>
          <a:xfrm>
            <a:off x="8092440" y="2679192"/>
            <a:ext cx="914400" cy="4114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ja-JP" sz="1000" b="1">
                <a:solidFill>
                  <a:srgbClr val="FFFFFF"/>
                </a:solidFill>
                <a:latin typeface="Calibri"/>
                <a:ea typeface="Yu Gothic UI"/>
              </a:rPr>
              <a:t>使用中</a:t>
            </a:r>
          </a:p>
        </p:txBody>
      </p:sp>
      <p:sp>
        <p:nvSpPr>
          <p:cNvPr id="17" name="Text17"/>
          <p:cNvSpPr txBox="1"/>
          <p:nvPr/>
        </p:nvSpPr>
        <p:spPr>
          <a:xfrm>
            <a:off x="9144000" y="2679192"/>
            <a:ext cx="1783080" cy="4114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ja-JP" sz="1000">
                <a:solidFill>
                  <a:srgbClr val="64748B"/>
                </a:solidFill>
                <a:latin typeface="Calibri"/>
                <a:ea typeface="Yu Gothic UI"/>
              </a:rPr>
              <a:t>未使用領域</a:t>
            </a:r>
          </a:p>
        </p:txBody>
      </p:sp>
      <p:sp>
        <p:nvSpPr>
          <p:cNvPr id="18" name="Rect18"/>
          <p:cNvSpPr/>
          <p:nvPr/>
        </p:nvSpPr>
        <p:spPr>
          <a:xfrm>
            <a:off x="7955280" y="3474720"/>
            <a:ext cx="3108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1295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Rect19"/>
          <p:cNvSpPr/>
          <p:nvPr/>
        </p:nvSpPr>
        <p:spPr>
          <a:xfrm>
            <a:off x="8092440" y="3611880"/>
            <a:ext cx="914400" cy="5029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Rect20"/>
          <p:cNvSpPr/>
          <p:nvPr/>
        </p:nvSpPr>
        <p:spPr>
          <a:xfrm>
            <a:off x="9144000" y="3611880"/>
            <a:ext cx="1783080" cy="50292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Text21"/>
          <p:cNvSpPr txBox="1"/>
          <p:nvPr/>
        </p:nvSpPr>
        <p:spPr>
          <a:xfrm>
            <a:off x="8092440" y="3639312"/>
            <a:ext cx="914400" cy="4114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ja-JP" sz="1000" b="1">
                <a:solidFill>
                  <a:srgbClr val="FFFFFF"/>
                </a:solidFill>
                <a:latin typeface="Calibri"/>
                <a:ea typeface="Yu Gothic UI"/>
              </a:rPr>
              <a:t>使用中</a:t>
            </a:r>
          </a:p>
        </p:txBody>
      </p:sp>
      <p:sp>
        <p:nvSpPr>
          <p:cNvPr id="22" name="Text22"/>
          <p:cNvSpPr txBox="1"/>
          <p:nvPr/>
        </p:nvSpPr>
        <p:spPr>
          <a:xfrm>
            <a:off x="9144000" y="3639312"/>
            <a:ext cx="1783080" cy="4114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ja-JP" sz="1000">
                <a:solidFill>
                  <a:srgbClr val="64748B"/>
                </a:solidFill>
                <a:latin typeface="Calibri"/>
                <a:ea typeface="Yu Gothic UI"/>
              </a:rPr>
              <a:t>未使用領域</a:t>
            </a:r>
          </a:p>
        </p:txBody>
      </p:sp>
      <p:sp>
        <p:nvSpPr>
          <p:cNvPr id="23" name="Rect23"/>
          <p:cNvSpPr/>
          <p:nvPr/>
        </p:nvSpPr>
        <p:spPr>
          <a:xfrm>
            <a:off x="7955280" y="4434840"/>
            <a:ext cx="3108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1295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" name="Rect24"/>
          <p:cNvSpPr/>
          <p:nvPr/>
        </p:nvSpPr>
        <p:spPr>
          <a:xfrm>
            <a:off x="8092440" y="4572000"/>
            <a:ext cx="914400" cy="5029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" name="Rect25"/>
          <p:cNvSpPr/>
          <p:nvPr/>
        </p:nvSpPr>
        <p:spPr>
          <a:xfrm>
            <a:off x="9144000" y="4572000"/>
            <a:ext cx="1783080" cy="50292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" name="Text26"/>
          <p:cNvSpPr txBox="1"/>
          <p:nvPr/>
        </p:nvSpPr>
        <p:spPr>
          <a:xfrm>
            <a:off x="8092440" y="4599432"/>
            <a:ext cx="914400" cy="4114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ja-JP" sz="1000" b="1">
                <a:solidFill>
                  <a:srgbClr val="FFFFFF"/>
                </a:solidFill>
                <a:latin typeface="Calibri"/>
                <a:ea typeface="Yu Gothic UI"/>
              </a:rPr>
              <a:t>使用中</a:t>
            </a:r>
          </a:p>
        </p:txBody>
      </p:sp>
      <p:sp>
        <p:nvSpPr>
          <p:cNvPr id="27" name="Text27"/>
          <p:cNvSpPr txBox="1"/>
          <p:nvPr/>
        </p:nvSpPr>
        <p:spPr>
          <a:xfrm>
            <a:off x="9144000" y="4599432"/>
            <a:ext cx="1783080" cy="4114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ja-JP" sz="1000">
                <a:solidFill>
                  <a:srgbClr val="64748B"/>
                </a:solidFill>
                <a:latin typeface="Calibri"/>
                <a:ea typeface="Yu Gothic UI"/>
              </a:rPr>
              <a:t>未使用領域</a:t>
            </a:r>
          </a:p>
        </p:txBody>
      </p:sp>
      <p:sp>
        <p:nvSpPr>
          <p:cNvPr id="28" name="Text28"/>
          <p:cNvSpPr txBox="1"/>
          <p:nvPr/>
        </p:nvSpPr>
        <p:spPr>
          <a:xfrm>
            <a:off x="7955280" y="5440680"/>
            <a:ext cx="310896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ja-JP" sz="1100">
                <a:solidFill>
                  <a:srgbClr val="64748B"/>
                </a:solidFill>
                <a:latin typeface="Calibri"/>
                <a:ea typeface="Yu Gothic UI"/>
              </a:rPr>
              <a:t>物理サーバー(低利用率のイメージ)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3"/>
          <p:cNvSpPr txBox="1"/>
          <p:nvPr/>
        </p:nvSpPr>
        <p:spPr>
          <a:xfrm>
            <a:off x="548640" y="164592"/>
            <a:ext cx="731520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sz="1300" b="1">
                <a:solidFill>
                  <a:srgbClr val="9FD8DF"/>
                </a:solidFill>
                <a:latin typeface="Calibri"/>
                <a:ea typeface="Yu Gothic UI"/>
              </a:rPr>
              <a:t>BASIC CONCEPT</a:t>
            </a:r>
          </a:p>
        </p:txBody>
      </p:sp>
      <p:sp>
        <p:nvSpPr>
          <p:cNvPr id="4" name="Text4"/>
          <p:cNvSpPr txBox="1"/>
          <p:nvPr/>
        </p:nvSpPr>
        <p:spPr>
          <a:xfrm>
            <a:off x="502920" y="411480"/>
            <a:ext cx="10058400" cy="5943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sz="2800" b="1">
                <a:solidFill>
                  <a:srgbClr val="FFFFFF"/>
                </a:solidFill>
                <a:latin typeface="Trebuchet MS"/>
                <a:ea typeface="Yu Gothic UI"/>
              </a:rPr>
              <a:t>サーバ仮想化とは</a:t>
            </a:r>
          </a:p>
        </p:txBody>
      </p:sp>
      <p:sp>
        <p:nvSpPr>
          <p:cNvPr id="5" name="Oval5"/>
          <p:cNvSpPr/>
          <p:nvPr/>
        </p:nvSpPr>
        <p:spPr>
          <a:xfrm>
            <a:off x="11475720" y="320040"/>
            <a:ext cx="411480" cy="411480"/>
          </a:xfrm>
          <a:prstGeom prst="ellipse">
            <a:avLst/>
          </a:prstGeom>
          <a:solidFill>
            <a:srgbClr val="E874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Text6"/>
          <p:cNvSpPr txBox="1"/>
          <p:nvPr/>
        </p:nvSpPr>
        <p:spPr>
          <a:xfrm>
            <a:off x="548640" y="1325880"/>
            <a:ext cx="1078992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lang="ja-JP" sz="1600">
                <a:solidFill>
                  <a:srgbClr val="2A2A33"/>
                </a:solidFill>
                <a:latin typeface="Calibri"/>
                <a:ea typeface="Yu Gothic UI"/>
              </a:rPr>
              <a:t>1台の物理サーバー上で、複数の仮想マシン(VM)を同時に動かす技術です。</a:t>
            </a:r>
          </a:p>
          <a:p>
            <a:pPr algn="l">
              <a:lnSpc>
                <a:spcPct val="130000"/>
              </a:lnSpc>
            </a:pPr>
            <a:r>
              <a:rPr lang="ja-JP" sz="1600">
                <a:solidFill>
                  <a:srgbClr val="2A2A33"/>
                </a:solidFill>
                <a:latin typeface="Calibri"/>
                <a:ea typeface="Yu Gothic UI"/>
              </a:rPr>
              <a:t>それぞれのVMは独立したOS・アプリケーションを持ち、互いに影響しません。</a:t>
            </a:r>
          </a:p>
        </p:txBody>
      </p:sp>
      <p:sp>
        <p:nvSpPr>
          <p:cNvPr id="7" name="Rect7"/>
          <p:cNvSpPr/>
          <p:nvPr/>
        </p:nvSpPr>
        <p:spPr>
          <a:xfrm>
            <a:off x="548640" y="2834640"/>
            <a:ext cx="3520440" cy="2194560"/>
          </a:xfrm>
          <a:prstGeom prst="roundRect">
            <a:avLst/>
          </a:prstGeom>
          <a:solidFill>
            <a:srgbClr val="F2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Rect8"/>
          <p:cNvSpPr/>
          <p:nvPr/>
        </p:nvSpPr>
        <p:spPr>
          <a:xfrm>
            <a:off x="548640" y="2834640"/>
            <a:ext cx="109728" cy="21945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Text9"/>
          <p:cNvSpPr txBox="1"/>
          <p:nvPr/>
        </p:nvSpPr>
        <p:spPr>
          <a:xfrm>
            <a:off x="822960" y="3063240"/>
            <a:ext cx="306324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sz="1500" b="1">
                <a:solidFill>
                  <a:srgbClr val="21295C"/>
                </a:solidFill>
                <a:latin typeface="Calibri"/>
                <a:ea typeface="Yu Gothic UI"/>
              </a:rPr>
              <a:t>物理サーバー(ホスト)</a:t>
            </a:r>
          </a:p>
        </p:txBody>
      </p:sp>
      <p:sp>
        <p:nvSpPr>
          <p:cNvPr id="10" name="Text10"/>
          <p:cNvSpPr txBox="1"/>
          <p:nvPr/>
        </p:nvSpPr>
        <p:spPr>
          <a:xfrm>
            <a:off x="822960" y="3611880"/>
            <a:ext cx="3017520" cy="12801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ja-JP" sz="1300">
                <a:solidFill>
                  <a:srgbClr val="2A2A33"/>
                </a:solidFill>
                <a:latin typeface="Calibri"/>
                <a:ea typeface="Yu Gothic UI"/>
              </a:rPr>
              <a:t>CPU/メモリ/ディスクなどの物理リソースを持つ実機</a:t>
            </a:r>
          </a:p>
        </p:txBody>
      </p:sp>
      <p:sp>
        <p:nvSpPr>
          <p:cNvPr id="11" name="Rect11"/>
          <p:cNvSpPr/>
          <p:nvPr/>
        </p:nvSpPr>
        <p:spPr>
          <a:xfrm>
            <a:off x="4297680" y="2834640"/>
            <a:ext cx="3520440" cy="2194560"/>
          </a:xfrm>
          <a:prstGeom prst="roundRect">
            <a:avLst/>
          </a:prstGeom>
          <a:solidFill>
            <a:srgbClr val="F2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Rect12"/>
          <p:cNvSpPr/>
          <p:nvPr/>
        </p:nvSpPr>
        <p:spPr>
          <a:xfrm>
            <a:off x="4297680" y="2834640"/>
            <a:ext cx="109728" cy="21945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Text13"/>
          <p:cNvSpPr txBox="1"/>
          <p:nvPr/>
        </p:nvSpPr>
        <p:spPr>
          <a:xfrm>
            <a:off x="4572000" y="3063240"/>
            <a:ext cx="306324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sz="1500" b="1">
                <a:solidFill>
                  <a:srgbClr val="21295C"/>
                </a:solidFill>
                <a:latin typeface="Calibri"/>
                <a:ea typeface="Yu Gothic UI"/>
              </a:rPr>
              <a:t>ハイパーバイザー</a:t>
            </a:r>
          </a:p>
        </p:txBody>
      </p:sp>
      <p:sp>
        <p:nvSpPr>
          <p:cNvPr id="14" name="Text14"/>
          <p:cNvSpPr txBox="1"/>
          <p:nvPr/>
        </p:nvSpPr>
        <p:spPr>
          <a:xfrm>
            <a:off x="4572000" y="3611880"/>
            <a:ext cx="3017520" cy="12801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ja-JP" sz="1300">
                <a:solidFill>
                  <a:srgbClr val="2A2A33"/>
                </a:solidFill>
                <a:latin typeface="Calibri"/>
                <a:ea typeface="Yu Gothic UI"/>
              </a:rPr>
              <a:t>物理リソースを仮想的に分割・割り当てるソフトウェア</a:t>
            </a:r>
          </a:p>
        </p:txBody>
      </p:sp>
      <p:sp>
        <p:nvSpPr>
          <p:cNvPr id="15" name="Rect15"/>
          <p:cNvSpPr/>
          <p:nvPr/>
        </p:nvSpPr>
        <p:spPr>
          <a:xfrm>
            <a:off x="8046720" y="2834640"/>
            <a:ext cx="3520440" cy="2194560"/>
          </a:xfrm>
          <a:prstGeom prst="roundRect">
            <a:avLst/>
          </a:prstGeom>
          <a:solidFill>
            <a:srgbClr val="F2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Rect16"/>
          <p:cNvSpPr/>
          <p:nvPr/>
        </p:nvSpPr>
        <p:spPr>
          <a:xfrm>
            <a:off x="8046720" y="2834640"/>
            <a:ext cx="109728" cy="21945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Text17"/>
          <p:cNvSpPr txBox="1"/>
          <p:nvPr/>
        </p:nvSpPr>
        <p:spPr>
          <a:xfrm>
            <a:off x="8321040" y="3063240"/>
            <a:ext cx="306324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sz="1500" b="1">
                <a:solidFill>
                  <a:srgbClr val="21295C"/>
                </a:solidFill>
                <a:latin typeface="Calibri"/>
                <a:ea typeface="Yu Gothic UI"/>
              </a:rPr>
              <a:t>仮想マシン(VM)</a:t>
            </a:r>
          </a:p>
        </p:txBody>
      </p:sp>
      <p:sp>
        <p:nvSpPr>
          <p:cNvPr id="18" name="Text18"/>
          <p:cNvSpPr txBox="1"/>
          <p:nvPr/>
        </p:nvSpPr>
        <p:spPr>
          <a:xfrm>
            <a:off x="8321040" y="3611880"/>
            <a:ext cx="3017520" cy="12801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ja-JP" sz="1300">
                <a:solidFill>
                  <a:srgbClr val="2A2A33"/>
                </a:solidFill>
                <a:latin typeface="Calibri"/>
                <a:ea typeface="Yu Gothic UI"/>
              </a:rPr>
              <a:t>ハイパーバイザー上で動作する仮想的なコンピューター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3"/>
          <p:cNvSpPr txBox="1"/>
          <p:nvPr/>
        </p:nvSpPr>
        <p:spPr>
          <a:xfrm>
            <a:off x="548640" y="164592"/>
            <a:ext cx="731520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sz="1300" b="1">
                <a:solidFill>
                  <a:srgbClr val="9FD8DF"/>
                </a:solidFill>
                <a:latin typeface="Calibri"/>
                <a:ea typeface="Yu Gothic UI"/>
              </a:rPr>
              <a:t>HOW IT WORKS</a:t>
            </a:r>
          </a:p>
        </p:txBody>
      </p:sp>
      <p:sp>
        <p:nvSpPr>
          <p:cNvPr id="4" name="Text4"/>
          <p:cNvSpPr txBox="1"/>
          <p:nvPr/>
        </p:nvSpPr>
        <p:spPr>
          <a:xfrm>
            <a:off x="502920" y="411480"/>
            <a:ext cx="10058400" cy="5943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sz="2800" b="1">
                <a:solidFill>
                  <a:srgbClr val="FFFFFF"/>
                </a:solidFill>
                <a:latin typeface="Trebuchet MS"/>
                <a:ea typeface="Yu Gothic UI"/>
              </a:rPr>
              <a:t>仮想化の仕組み</a:t>
            </a:r>
          </a:p>
        </p:txBody>
      </p:sp>
      <p:sp>
        <p:nvSpPr>
          <p:cNvPr id="5" name="Oval5"/>
          <p:cNvSpPr/>
          <p:nvPr/>
        </p:nvSpPr>
        <p:spPr>
          <a:xfrm>
            <a:off x="11475720" y="320040"/>
            <a:ext cx="411480" cy="411480"/>
          </a:xfrm>
          <a:prstGeom prst="ellipse">
            <a:avLst/>
          </a:prstGeom>
          <a:solidFill>
            <a:srgbClr val="E874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Rect6"/>
          <p:cNvSpPr/>
          <p:nvPr/>
        </p:nvSpPr>
        <p:spPr>
          <a:xfrm>
            <a:off x="914400" y="1463040"/>
            <a:ext cx="10332720" cy="4846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21295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Text7"/>
          <p:cNvSpPr txBox="1"/>
          <p:nvPr/>
        </p:nvSpPr>
        <p:spPr>
          <a:xfrm>
            <a:off x="1188720" y="1600200"/>
            <a:ext cx="54864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sz="1400" b="1">
                <a:solidFill>
                  <a:srgbClr val="21295C"/>
                </a:solidFill>
                <a:latin typeface="Calibri"/>
                <a:ea typeface="Yu Gothic UI"/>
              </a:rPr>
              <a:t>物理サーバー(ホスト)</a:t>
            </a:r>
          </a:p>
        </p:txBody>
      </p:sp>
      <p:sp>
        <p:nvSpPr>
          <p:cNvPr id="8" name="Rect8"/>
          <p:cNvSpPr/>
          <p:nvPr/>
        </p:nvSpPr>
        <p:spPr>
          <a:xfrm>
            <a:off x="1188720" y="2057400"/>
            <a:ext cx="9784080" cy="640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65A8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Text9"/>
          <p:cNvSpPr txBox="1"/>
          <p:nvPr/>
        </p:nvSpPr>
        <p:spPr>
          <a:xfrm>
            <a:off x="1188720" y="2057400"/>
            <a:ext cx="9784080" cy="6400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ja-JP" sz="1300">
                <a:solidFill>
                  <a:srgbClr val="2A2A33"/>
                </a:solidFill>
                <a:latin typeface="Calibri"/>
                <a:ea typeface="Yu Gothic UI"/>
              </a:rPr>
              <a:t>CPU / メモリ / ディスク / NIC(物理リソース)</a:t>
            </a:r>
          </a:p>
        </p:txBody>
      </p:sp>
      <p:sp>
        <p:nvSpPr>
          <p:cNvPr id="10" name="Rect10"/>
          <p:cNvSpPr/>
          <p:nvPr/>
        </p:nvSpPr>
        <p:spPr>
          <a:xfrm>
            <a:off x="1188720" y="2880360"/>
            <a:ext cx="9784080" cy="6400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Text11"/>
          <p:cNvSpPr txBox="1"/>
          <p:nvPr/>
        </p:nvSpPr>
        <p:spPr>
          <a:xfrm>
            <a:off x="1188720" y="2880360"/>
            <a:ext cx="9784080" cy="6400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ja-JP" sz="1400" b="1">
                <a:solidFill>
                  <a:srgbClr val="FFFFFF"/>
                </a:solidFill>
                <a:latin typeface="Calibri"/>
                <a:ea typeface="Yu Gothic UI"/>
              </a:rPr>
              <a:t>ハイパーバイザー(物理リソースを仮想的に分割)</a:t>
            </a:r>
          </a:p>
        </p:txBody>
      </p:sp>
      <p:sp>
        <p:nvSpPr>
          <p:cNvPr id="12" name="Rect12"/>
          <p:cNvSpPr/>
          <p:nvPr/>
        </p:nvSpPr>
        <p:spPr>
          <a:xfrm>
            <a:off x="1325880" y="3794760"/>
            <a:ext cx="30175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C729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Rect13"/>
          <p:cNvSpPr/>
          <p:nvPr/>
        </p:nvSpPr>
        <p:spPr>
          <a:xfrm>
            <a:off x="1325880" y="3794760"/>
            <a:ext cx="3017520" cy="5029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Text14"/>
          <p:cNvSpPr txBox="1"/>
          <p:nvPr/>
        </p:nvSpPr>
        <p:spPr>
          <a:xfrm>
            <a:off x="1325880" y="3794760"/>
            <a:ext cx="3017520" cy="5029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ja-JP" sz="1400" b="1">
                <a:solidFill>
                  <a:srgbClr val="FFFFFF"/>
                </a:solidFill>
                <a:latin typeface="Calibri"/>
                <a:ea typeface="Yu Gothic UI"/>
              </a:rPr>
              <a:t>VM 1</a:t>
            </a:r>
          </a:p>
        </p:txBody>
      </p:sp>
      <p:sp>
        <p:nvSpPr>
          <p:cNvPr id="15" name="Text15"/>
          <p:cNvSpPr txBox="1"/>
          <p:nvPr/>
        </p:nvSpPr>
        <p:spPr>
          <a:xfrm>
            <a:off x="1508760" y="4434840"/>
            <a:ext cx="265176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sz="1200">
                <a:solidFill>
                  <a:srgbClr val="2A2A33"/>
                </a:solidFill>
                <a:latin typeface="Calibri"/>
                <a:ea typeface="Yu Gothic UI"/>
              </a:rPr>
              <a:t>ゲストOS</a:t>
            </a:r>
          </a:p>
        </p:txBody>
      </p:sp>
      <p:sp>
        <p:nvSpPr>
          <p:cNvPr id="16" name="Text16"/>
          <p:cNvSpPr txBox="1"/>
          <p:nvPr/>
        </p:nvSpPr>
        <p:spPr>
          <a:xfrm>
            <a:off x="1508760" y="4846320"/>
            <a:ext cx="265176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sz="1200">
                <a:solidFill>
                  <a:srgbClr val="2A2A33"/>
                </a:solidFill>
                <a:latin typeface="Calibri"/>
                <a:ea typeface="Yu Gothic UI"/>
              </a:rPr>
              <a:t>アプリケーション</a:t>
            </a:r>
          </a:p>
        </p:txBody>
      </p:sp>
      <p:sp>
        <p:nvSpPr>
          <p:cNvPr id="17" name="Text17"/>
          <p:cNvSpPr txBox="1"/>
          <p:nvPr/>
        </p:nvSpPr>
        <p:spPr>
          <a:xfrm>
            <a:off x="1508760" y="5257800"/>
            <a:ext cx="265176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lang="ja-JP" sz="1100">
                <a:solidFill>
                  <a:srgbClr val="64748B"/>
                </a:solidFill>
                <a:latin typeface="Calibri"/>
                <a:ea typeface="Yu Gothic UI"/>
              </a:rPr>
              <a:t>他のVMから独立して動作</a:t>
            </a:r>
          </a:p>
        </p:txBody>
      </p:sp>
      <p:sp>
        <p:nvSpPr>
          <p:cNvPr id="18" name="Rect18"/>
          <p:cNvSpPr/>
          <p:nvPr/>
        </p:nvSpPr>
        <p:spPr>
          <a:xfrm>
            <a:off x="4663440" y="3794760"/>
            <a:ext cx="30175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C729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Rect19"/>
          <p:cNvSpPr/>
          <p:nvPr/>
        </p:nvSpPr>
        <p:spPr>
          <a:xfrm>
            <a:off x="4663440" y="3794760"/>
            <a:ext cx="3017520" cy="5029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Text20"/>
          <p:cNvSpPr txBox="1"/>
          <p:nvPr/>
        </p:nvSpPr>
        <p:spPr>
          <a:xfrm>
            <a:off x="4663440" y="3794760"/>
            <a:ext cx="3017520" cy="5029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ja-JP" sz="1400" b="1">
                <a:solidFill>
                  <a:srgbClr val="FFFFFF"/>
                </a:solidFill>
                <a:latin typeface="Calibri"/>
                <a:ea typeface="Yu Gothic UI"/>
              </a:rPr>
              <a:t>VM 2</a:t>
            </a:r>
          </a:p>
        </p:txBody>
      </p:sp>
      <p:sp>
        <p:nvSpPr>
          <p:cNvPr id="21" name="Text21"/>
          <p:cNvSpPr txBox="1"/>
          <p:nvPr/>
        </p:nvSpPr>
        <p:spPr>
          <a:xfrm>
            <a:off x="4846320" y="4434840"/>
            <a:ext cx="265176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sz="1200">
                <a:solidFill>
                  <a:srgbClr val="2A2A33"/>
                </a:solidFill>
                <a:latin typeface="Calibri"/>
                <a:ea typeface="Yu Gothic UI"/>
              </a:rPr>
              <a:t>ゲストOS</a:t>
            </a:r>
          </a:p>
        </p:txBody>
      </p:sp>
      <p:sp>
        <p:nvSpPr>
          <p:cNvPr id="22" name="Text22"/>
          <p:cNvSpPr txBox="1"/>
          <p:nvPr/>
        </p:nvSpPr>
        <p:spPr>
          <a:xfrm>
            <a:off x="4846320" y="4846320"/>
            <a:ext cx="265176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sz="1200">
                <a:solidFill>
                  <a:srgbClr val="2A2A33"/>
                </a:solidFill>
                <a:latin typeface="Calibri"/>
                <a:ea typeface="Yu Gothic UI"/>
              </a:rPr>
              <a:t>アプリケーション</a:t>
            </a:r>
          </a:p>
        </p:txBody>
      </p:sp>
      <p:sp>
        <p:nvSpPr>
          <p:cNvPr id="23" name="Text23"/>
          <p:cNvSpPr txBox="1"/>
          <p:nvPr/>
        </p:nvSpPr>
        <p:spPr>
          <a:xfrm>
            <a:off x="4846320" y="5257800"/>
            <a:ext cx="265176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lang="ja-JP" sz="1100">
                <a:solidFill>
                  <a:srgbClr val="64748B"/>
                </a:solidFill>
                <a:latin typeface="Calibri"/>
                <a:ea typeface="Yu Gothic UI"/>
              </a:rPr>
              <a:t>他のVMから独立して動作</a:t>
            </a:r>
          </a:p>
        </p:txBody>
      </p:sp>
      <p:sp>
        <p:nvSpPr>
          <p:cNvPr id="24" name="Rect24"/>
          <p:cNvSpPr/>
          <p:nvPr/>
        </p:nvSpPr>
        <p:spPr>
          <a:xfrm>
            <a:off x="8001000" y="3794760"/>
            <a:ext cx="30175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C729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" name="Rect25"/>
          <p:cNvSpPr/>
          <p:nvPr/>
        </p:nvSpPr>
        <p:spPr>
          <a:xfrm>
            <a:off x="8001000" y="3794760"/>
            <a:ext cx="3017520" cy="5029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" name="Text26"/>
          <p:cNvSpPr txBox="1"/>
          <p:nvPr/>
        </p:nvSpPr>
        <p:spPr>
          <a:xfrm>
            <a:off x="8001000" y="3794760"/>
            <a:ext cx="3017520" cy="5029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ja-JP" sz="1400" b="1">
                <a:solidFill>
                  <a:srgbClr val="FFFFFF"/>
                </a:solidFill>
                <a:latin typeface="Calibri"/>
                <a:ea typeface="Yu Gothic UI"/>
              </a:rPr>
              <a:t>VM 3</a:t>
            </a:r>
          </a:p>
        </p:txBody>
      </p:sp>
      <p:sp>
        <p:nvSpPr>
          <p:cNvPr id="27" name="Text27"/>
          <p:cNvSpPr txBox="1"/>
          <p:nvPr/>
        </p:nvSpPr>
        <p:spPr>
          <a:xfrm>
            <a:off x="8183880" y="4434840"/>
            <a:ext cx="265176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sz="1200">
                <a:solidFill>
                  <a:srgbClr val="2A2A33"/>
                </a:solidFill>
                <a:latin typeface="Calibri"/>
                <a:ea typeface="Yu Gothic UI"/>
              </a:rPr>
              <a:t>ゲストOS</a:t>
            </a:r>
          </a:p>
        </p:txBody>
      </p:sp>
      <p:sp>
        <p:nvSpPr>
          <p:cNvPr id="28" name="Text28"/>
          <p:cNvSpPr txBox="1"/>
          <p:nvPr/>
        </p:nvSpPr>
        <p:spPr>
          <a:xfrm>
            <a:off x="8183880" y="4846320"/>
            <a:ext cx="265176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sz="1200">
                <a:solidFill>
                  <a:srgbClr val="2A2A33"/>
                </a:solidFill>
                <a:latin typeface="Calibri"/>
                <a:ea typeface="Yu Gothic UI"/>
              </a:rPr>
              <a:t>アプリケーション</a:t>
            </a:r>
          </a:p>
        </p:txBody>
      </p:sp>
      <p:sp>
        <p:nvSpPr>
          <p:cNvPr id="29" name="Text29"/>
          <p:cNvSpPr txBox="1"/>
          <p:nvPr/>
        </p:nvSpPr>
        <p:spPr>
          <a:xfrm>
            <a:off x="8183880" y="5257800"/>
            <a:ext cx="265176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lang="ja-JP" sz="1100">
                <a:solidFill>
                  <a:srgbClr val="64748B"/>
                </a:solidFill>
                <a:latin typeface="Calibri"/>
                <a:ea typeface="Yu Gothic UI"/>
              </a:rPr>
              <a:t>他のVMから独立して動作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3"/>
          <p:cNvSpPr txBox="1"/>
          <p:nvPr/>
        </p:nvSpPr>
        <p:spPr>
          <a:xfrm>
            <a:off x="548640" y="164592"/>
            <a:ext cx="731520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sz="1300" b="1">
                <a:solidFill>
                  <a:srgbClr val="9FD8DF"/>
                </a:solidFill>
                <a:latin typeface="Calibri"/>
                <a:ea typeface="Yu Gothic UI"/>
              </a:rPr>
              <a:t>BENEFITS</a:t>
            </a:r>
          </a:p>
        </p:txBody>
      </p:sp>
      <p:sp>
        <p:nvSpPr>
          <p:cNvPr id="4" name="Text4"/>
          <p:cNvSpPr txBox="1"/>
          <p:nvPr/>
        </p:nvSpPr>
        <p:spPr>
          <a:xfrm>
            <a:off x="502920" y="411480"/>
            <a:ext cx="10058400" cy="5943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sz="2800" b="1">
                <a:solidFill>
                  <a:srgbClr val="FFFFFF"/>
                </a:solidFill>
                <a:latin typeface="Trebuchet MS"/>
                <a:ea typeface="Yu Gothic UI"/>
              </a:rPr>
              <a:t>仮想化の主なメリット</a:t>
            </a:r>
          </a:p>
        </p:txBody>
      </p:sp>
      <p:sp>
        <p:nvSpPr>
          <p:cNvPr id="5" name="Oval5"/>
          <p:cNvSpPr/>
          <p:nvPr/>
        </p:nvSpPr>
        <p:spPr>
          <a:xfrm>
            <a:off x="11475720" y="320040"/>
            <a:ext cx="411480" cy="411480"/>
          </a:xfrm>
          <a:prstGeom prst="ellipse">
            <a:avLst/>
          </a:prstGeom>
          <a:solidFill>
            <a:srgbClr val="E874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Rect6"/>
          <p:cNvSpPr/>
          <p:nvPr/>
        </p:nvSpPr>
        <p:spPr>
          <a:xfrm>
            <a:off x="548640" y="1417320"/>
            <a:ext cx="3611880" cy="2194560"/>
          </a:xfrm>
          <a:prstGeom prst="roundRect">
            <a:avLst/>
          </a:prstGeom>
          <a:solidFill>
            <a:srgbClr val="F2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Oval7"/>
          <p:cNvSpPr/>
          <p:nvPr/>
        </p:nvSpPr>
        <p:spPr>
          <a:xfrm>
            <a:off x="777240" y="1645920"/>
            <a:ext cx="548640" cy="548640"/>
          </a:xfrm>
          <a:prstGeom prst="ellipse">
            <a:avLst/>
          </a:prstGeom>
          <a:solidFill>
            <a:srgbClr val="E874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Text8"/>
          <p:cNvSpPr txBox="1"/>
          <p:nvPr/>
        </p:nvSpPr>
        <p:spPr>
          <a:xfrm>
            <a:off x="777240" y="1664208"/>
            <a:ext cx="548640" cy="5120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ja-JP" sz="1800" b="1">
                <a:solidFill>
                  <a:srgbClr val="FFFFFF"/>
                </a:solidFill>
                <a:latin typeface="Calibri"/>
                <a:ea typeface="Yu Gothic UI"/>
              </a:rPr>
              <a:t>C</a:t>
            </a:r>
          </a:p>
        </p:txBody>
      </p:sp>
      <p:sp>
        <p:nvSpPr>
          <p:cNvPr id="9" name="Text9"/>
          <p:cNvSpPr txBox="1"/>
          <p:nvPr/>
        </p:nvSpPr>
        <p:spPr>
          <a:xfrm>
            <a:off x="1463040" y="1618488"/>
            <a:ext cx="2514600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sz="1400" b="1">
                <a:solidFill>
                  <a:srgbClr val="21295C"/>
                </a:solidFill>
                <a:latin typeface="Calibri"/>
                <a:ea typeface="Yu Gothic UI"/>
              </a:rPr>
              <a:t>コスト削減</a:t>
            </a:r>
          </a:p>
        </p:txBody>
      </p:sp>
      <p:sp>
        <p:nvSpPr>
          <p:cNvPr id="10" name="Text10"/>
          <p:cNvSpPr txBox="1"/>
          <p:nvPr/>
        </p:nvSpPr>
        <p:spPr>
          <a:xfrm>
            <a:off x="777240" y="2331720"/>
            <a:ext cx="3154680" cy="11887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ja-JP" sz="1200">
                <a:solidFill>
                  <a:srgbClr val="2A2A33"/>
                </a:solidFill>
                <a:latin typeface="Calibri"/>
                <a:ea typeface="Yu Gothic UI"/>
              </a:rPr>
              <a:t>サーバー台数・設置スペース・電力/空調コストを削減</a:t>
            </a:r>
          </a:p>
        </p:txBody>
      </p:sp>
      <p:sp>
        <p:nvSpPr>
          <p:cNvPr id="11" name="Rect11"/>
          <p:cNvSpPr/>
          <p:nvPr/>
        </p:nvSpPr>
        <p:spPr>
          <a:xfrm>
            <a:off x="4389120" y="1417320"/>
            <a:ext cx="3611880" cy="2194560"/>
          </a:xfrm>
          <a:prstGeom prst="roundRect">
            <a:avLst/>
          </a:prstGeom>
          <a:solidFill>
            <a:srgbClr val="F2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Oval12"/>
          <p:cNvSpPr/>
          <p:nvPr/>
        </p:nvSpPr>
        <p:spPr>
          <a:xfrm>
            <a:off x="4617720" y="1645920"/>
            <a:ext cx="548640" cy="548640"/>
          </a:xfrm>
          <a:prstGeom prst="ellipse">
            <a:avLst/>
          </a:prstGeom>
          <a:solidFill>
            <a:srgbClr val="E874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Text13"/>
          <p:cNvSpPr txBox="1"/>
          <p:nvPr/>
        </p:nvSpPr>
        <p:spPr>
          <a:xfrm>
            <a:off x="4617720" y="1664208"/>
            <a:ext cx="548640" cy="5120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ja-JP" sz="1800" b="1">
                <a:solidFill>
                  <a:srgbClr val="FFFFFF"/>
                </a:solidFill>
                <a:latin typeface="Calibri"/>
                <a:ea typeface="Yu Gothic UI"/>
              </a:rPr>
              <a:t>S</a:t>
            </a:r>
          </a:p>
        </p:txBody>
      </p:sp>
      <p:sp>
        <p:nvSpPr>
          <p:cNvPr id="14" name="Text14"/>
          <p:cNvSpPr txBox="1"/>
          <p:nvPr/>
        </p:nvSpPr>
        <p:spPr>
          <a:xfrm>
            <a:off x="5303520" y="1618488"/>
            <a:ext cx="2514600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sz="1400" b="1">
                <a:solidFill>
                  <a:srgbClr val="21295C"/>
                </a:solidFill>
                <a:latin typeface="Calibri"/>
                <a:ea typeface="Yu Gothic UI"/>
              </a:rPr>
              <a:t>リソース有効活用</a:t>
            </a:r>
          </a:p>
        </p:txBody>
      </p:sp>
      <p:sp>
        <p:nvSpPr>
          <p:cNvPr id="15" name="Text15"/>
          <p:cNvSpPr txBox="1"/>
          <p:nvPr/>
        </p:nvSpPr>
        <p:spPr>
          <a:xfrm>
            <a:off x="4617720" y="2331720"/>
            <a:ext cx="3154680" cy="11887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ja-JP" sz="1200">
                <a:solidFill>
                  <a:srgbClr val="2A2A33"/>
                </a:solidFill>
                <a:latin typeface="Calibri"/>
                <a:ea typeface="Yu Gothic UI"/>
              </a:rPr>
              <a:t>複数VMでCPU/メモリを共有し、利用率を大幅に向上</a:t>
            </a:r>
          </a:p>
        </p:txBody>
      </p:sp>
      <p:sp>
        <p:nvSpPr>
          <p:cNvPr id="16" name="Rect16"/>
          <p:cNvSpPr/>
          <p:nvPr/>
        </p:nvSpPr>
        <p:spPr>
          <a:xfrm>
            <a:off x="8229600" y="1417320"/>
            <a:ext cx="3611880" cy="2194560"/>
          </a:xfrm>
          <a:prstGeom prst="roundRect">
            <a:avLst/>
          </a:prstGeom>
          <a:solidFill>
            <a:srgbClr val="F2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Oval17"/>
          <p:cNvSpPr/>
          <p:nvPr/>
        </p:nvSpPr>
        <p:spPr>
          <a:xfrm>
            <a:off x="8458200" y="1645920"/>
            <a:ext cx="548640" cy="548640"/>
          </a:xfrm>
          <a:prstGeom prst="ellipse">
            <a:avLst/>
          </a:prstGeom>
          <a:solidFill>
            <a:srgbClr val="E874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Text18"/>
          <p:cNvSpPr txBox="1"/>
          <p:nvPr/>
        </p:nvSpPr>
        <p:spPr>
          <a:xfrm>
            <a:off x="8458200" y="1664208"/>
            <a:ext cx="548640" cy="5120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ja-JP" sz="1800" b="1">
                <a:solidFill>
                  <a:srgbClr val="FFFFFF"/>
                </a:solidFill>
                <a:latin typeface="Calibri"/>
                <a:ea typeface="Yu Gothic UI"/>
              </a:rPr>
              <a:t>F</a:t>
            </a:r>
          </a:p>
        </p:txBody>
      </p:sp>
      <p:sp>
        <p:nvSpPr>
          <p:cNvPr id="19" name="Text19"/>
          <p:cNvSpPr txBox="1"/>
          <p:nvPr/>
        </p:nvSpPr>
        <p:spPr>
          <a:xfrm>
            <a:off x="9144000" y="1618488"/>
            <a:ext cx="2514600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sz="1400" b="1">
                <a:solidFill>
                  <a:srgbClr val="21295C"/>
                </a:solidFill>
                <a:latin typeface="Calibri"/>
                <a:ea typeface="Yu Gothic UI"/>
              </a:rPr>
              <a:t>迅速な構築</a:t>
            </a:r>
          </a:p>
        </p:txBody>
      </p:sp>
      <p:sp>
        <p:nvSpPr>
          <p:cNvPr id="20" name="Text20"/>
          <p:cNvSpPr txBox="1"/>
          <p:nvPr/>
        </p:nvSpPr>
        <p:spPr>
          <a:xfrm>
            <a:off x="8458200" y="2331720"/>
            <a:ext cx="3154680" cy="11887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ja-JP" sz="1200">
                <a:solidFill>
                  <a:srgbClr val="2A2A33"/>
                </a:solidFill>
                <a:latin typeface="Calibri"/>
                <a:ea typeface="Yu Gothic UI"/>
              </a:rPr>
              <a:t>新規サーバーを数分〜数時間で作成・展開できる</a:t>
            </a:r>
          </a:p>
        </p:txBody>
      </p:sp>
      <p:sp>
        <p:nvSpPr>
          <p:cNvPr id="21" name="Rect21"/>
          <p:cNvSpPr/>
          <p:nvPr/>
        </p:nvSpPr>
        <p:spPr>
          <a:xfrm>
            <a:off x="548640" y="3840480"/>
            <a:ext cx="3611880" cy="2194560"/>
          </a:xfrm>
          <a:prstGeom prst="roundRect">
            <a:avLst/>
          </a:prstGeom>
          <a:solidFill>
            <a:srgbClr val="F2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Oval22"/>
          <p:cNvSpPr/>
          <p:nvPr/>
        </p:nvSpPr>
        <p:spPr>
          <a:xfrm>
            <a:off x="777240" y="4069080"/>
            <a:ext cx="548640" cy="548640"/>
          </a:xfrm>
          <a:prstGeom prst="ellipse">
            <a:avLst/>
          </a:prstGeom>
          <a:solidFill>
            <a:srgbClr val="E874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" name="Text23"/>
          <p:cNvSpPr txBox="1"/>
          <p:nvPr/>
        </p:nvSpPr>
        <p:spPr>
          <a:xfrm>
            <a:off x="777240" y="4087368"/>
            <a:ext cx="548640" cy="5120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ja-JP" sz="1800" b="1">
                <a:solidFill>
                  <a:srgbClr val="FFFFFF"/>
                </a:solidFill>
                <a:latin typeface="Calibri"/>
                <a:ea typeface="Yu Gothic UI"/>
              </a:rPr>
              <a:t>A</a:t>
            </a:r>
          </a:p>
        </p:txBody>
      </p:sp>
      <p:sp>
        <p:nvSpPr>
          <p:cNvPr id="24" name="Text24"/>
          <p:cNvSpPr txBox="1"/>
          <p:nvPr/>
        </p:nvSpPr>
        <p:spPr>
          <a:xfrm>
            <a:off x="1463040" y="4041648"/>
            <a:ext cx="2514600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sz="1400" b="1">
                <a:solidFill>
                  <a:srgbClr val="21295C"/>
                </a:solidFill>
                <a:latin typeface="Calibri"/>
                <a:ea typeface="Yu Gothic UI"/>
              </a:rPr>
              <a:t>可用性向上</a:t>
            </a:r>
          </a:p>
        </p:txBody>
      </p:sp>
      <p:sp>
        <p:nvSpPr>
          <p:cNvPr id="25" name="Text25"/>
          <p:cNvSpPr txBox="1"/>
          <p:nvPr/>
        </p:nvSpPr>
        <p:spPr>
          <a:xfrm>
            <a:off x="777240" y="4754880"/>
            <a:ext cx="3154680" cy="11887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ja-JP" sz="1200">
                <a:solidFill>
                  <a:srgbClr val="2A2A33"/>
                </a:solidFill>
                <a:latin typeface="Calibri"/>
                <a:ea typeface="Yu Gothic UI"/>
              </a:rPr>
              <a:t>VMを別の物理サーバーへ容易に移動・復旧できる</a:t>
            </a:r>
          </a:p>
        </p:txBody>
      </p:sp>
      <p:sp>
        <p:nvSpPr>
          <p:cNvPr id="26" name="Rect26"/>
          <p:cNvSpPr/>
          <p:nvPr/>
        </p:nvSpPr>
        <p:spPr>
          <a:xfrm>
            <a:off x="4389120" y="3840480"/>
            <a:ext cx="3611880" cy="2194560"/>
          </a:xfrm>
          <a:prstGeom prst="roundRect">
            <a:avLst/>
          </a:prstGeom>
          <a:solidFill>
            <a:srgbClr val="F2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7" name="Oval27"/>
          <p:cNvSpPr/>
          <p:nvPr/>
        </p:nvSpPr>
        <p:spPr>
          <a:xfrm>
            <a:off x="4617720" y="4069080"/>
            <a:ext cx="548640" cy="548640"/>
          </a:xfrm>
          <a:prstGeom prst="ellipse">
            <a:avLst/>
          </a:prstGeom>
          <a:solidFill>
            <a:srgbClr val="E874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8" name="Text28"/>
          <p:cNvSpPr txBox="1"/>
          <p:nvPr/>
        </p:nvSpPr>
        <p:spPr>
          <a:xfrm>
            <a:off x="4617720" y="4087368"/>
            <a:ext cx="548640" cy="5120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ja-JP" sz="1800" b="1">
                <a:solidFill>
                  <a:srgbClr val="FFFFFF"/>
                </a:solidFill>
                <a:latin typeface="Calibri"/>
                <a:ea typeface="Yu Gothic UI"/>
              </a:rPr>
              <a:t>E</a:t>
            </a:r>
          </a:p>
        </p:txBody>
      </p:sp>
      <p:sp>
        <p:nvSpPr>
          <p:cNvPr id="29" name="Text29"/>
          <p:cNvSpPr txBox="1"/>
          <p:nvPr/>
        </p:nvSpPr>
        <p:spPr>
          <a:xfrm>
            <a:off x="5303520" y="4041648"/>
            <a:ext cx="2514600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sz="1400" b="1">
                <a:solidFill>
                  <a:srgbClr val="21295C"/>
                </a:solidFill>
                <a:latin typeface="Calibri"/>
                <a:ea typeface="Yu Gothic UI"/>
              </a:rPr>
              <a:t>柔軟な拡張性</a:t>
            </a:r>
          </a:p>
        </p:txBody>
      </p:sp>
      <p:sp>
        <p:nvSpPr>
          <p:cNvPr id="30" name="Text30"/>
          <p:cNvSpPr txBox="1"/>
          <p:nvPr/>
        </p:nvSpPr>
        <p:spPr>
          <a:xfrm>
            <a:off x="4617720" y="4754880"/>
            <a:ext cx="3154680" cy="11887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ja-JP" sz="1200">
                <a:solidFill>
                  <a:srgbClr val="2A2A33"/>
                </a:solidFill>
                <a:latin typeface="Calibri"/>
                <a:ea typeface="Yu Gothic UI"/>
              </a:rPr>
              <a:t>負荷に応じてVMのリソースを柔軟に増減できる</a:t>
            </a:r>
          </a:p>
        </p:txBody>
      </p:sp>
      <p:sp>
        <p:nvSpPr>
          <p:cNvPr id="31" name="Rect31"/>
          <p:cNvSpPr/>
          <p:nvPr/>
        </p:nvSpPr>
        <p:spPr>
          <a:xfrm>
            <a:off x="8229600" y="3840480"/>
            <a:ext cx="3611880" cy="2194560"/>
          </a:xfrm>
          <a:prstGeom prst="roundRect">
            <a:avLst/>
          </a:prstGeom>
          <a:solidFill>
            <a:srgbClr val="F2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Oval32"/>
          <p:cNvSpPr/>
          <p:nvPr/>
        </p:nvSpPr>
        <p:spPr>
          <a:xfrm>
            <a:off x="8458200" y="4069080"/>
            <a:ext cx="548640" cy="548640"/>
          </a:xfrm>
          <a:prstGeom prst="ellipse">
            <a:avLst/>
          </a:prstGeom>
          <a:solidFill>
            <a:srgbClr val="E874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" name="Text33"/>
          <p:cNvSpPr txBox="1"/>
          <p:nvPr/>
        </p:nvSpPr>
        <p:spPr>
          <a:xfrm>
            <a:off x="8458200" y="4087368"/>
            <a:ext cx="548640" cy="5120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ja-JP" sz="1800" b="1">
                <a:solidFill>
                  <a:srgbClr val="FFFFFF"/>
                </a:solidFill>
                <a:latin typeface="Calibri"/>
                <a:ea typeface="Yu Gothic UI"/>
              </a:rPr>
              <a:t>M</a:t>
            </a:r>
          </a:p>
        </p:txBody>
      </p:sp>
      <p:sp>
        <p:nvSpPr>
          <p:cNvPr id="34" name="Text34"/>
          <p:cNvSpPr txBox="1"/>
          <p:nvPr/>
        </p:nvSpPr>
        <p:spPr>
          <a:xfrm>
            <a:off x="9144000" y="4041648"/>
            <a:ext cx="2514600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sz="1400" b="1">
                <a:solidFill>
                  <a:srgbClr val="21295C"/>
                </a:solidFill>
                <a:latin typeface="Calibri"/>
                <a:ea typeface="Yu Gothic UI"/>
              </a:rPr>
              <a:t>運用管理の効率化</a:t>
            </a:r>
          </a:p>
        </p:txBody>
      </p:sp>
      <p:sp>
        <p:nvSpPr>
          <p:cNvPr id="35" name="Text35"/>
          <p:cNvSpPr txBox="1"/>
          <p:nvPr/>
        </p:nvSpPr>
        <p:spPr>
          <a:xfrm>
            <a:off x="8458200" y="4754880"/>
            <a:ext cx="3154680" cy="11887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ja-JP" sz="1200">
                <a:solidFill>
                  <a:srgbClr val="2A2A33"/>
                </a:solidFill>
                <a:latin typeface="Calibri"/>
                <a:ea typeface="Yu Gothic UI"/>
              </a:rPr>
              <a:t>管理ツールで複数サーバーを一元的に運用できる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3"/>
          <p:cNvSpPr txBox="1"/>
          <p:nvPr/>
        </p:nvSpPr>
        <p:spPr>
          <a:xfrm>
            <a:off x="548640" y="164592"/>
            <a:ext cx="731520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sz="1300" b="1">
                <a:solidFill>
                  <a:srgbClr val="9FD8DF"/>
                </a:solidFill>
                <a:latin typeface="Calibri"/>
                <a:ea typeface="Yu Gothic UI"/>
              </a:rPr>
              <a:t>HYPERVISOR TYPES</a:t>
            </a:r>
          </a:p>
        </p:txBody>
      </p:sp>
      <p:sp>
        <p:nvSpPr>
          <p:cNvPr id="4" name="Text4"/>
          <p:cNvSpPr txBox="1"/>
          <p:nvPr/>
        </p:nvSpPr>
        <p:spPr>
          <a:xfrm>
            <a:off x="502920" y="411480"/>
            <a:ext cx="10058400" cy="5943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sz="2800" b="1">
                <a:solidFill>
                  <a:srgbClr val="FFFFFF"/>
                </a:solidFill>
                <a:latin typeface="Trebuchet MS"/>
                <a:ea typeface="Yu Gothic UI"/>
              </a:rPr>
              <a:t>ハイパーバイザーの種類</a:t>
            </a:r>
          </a:p>
        </p:txBody>
      </p:sp>
      <p:sp>
        <p:nvSpPr>
          <p:cNvPr id="5" name="Oval5"/>
          <p:cNvSpPr/>
          <p:nvPr/>
        </p:nvSpPr>
        <p:spPr>
          <a:xfrm>
            <a:off x="11475720" y="320040"/>
            <a:ext cx="411480" cy="411480"/>
          </a:xfrm>
          <a:prstGeom prst="ellipse">
            <a:avLst/>
          </a:prstGeom>
          <a:solidFill>
            <a:srgbClr val="E874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Rect6"/>
          <p:cNvSpPr/>
          <p:nvPr/>
        </p:nvSpPr>
        <p:spPr>
          <a:xfrm>
            <a:off x="548640" y="1417320"/>
            <a:ext cx="5349240" cy="2286000"/>
          </a:xfrm>
          <a:prstGeom prst="roundRect">
            <a:avLst/>
          </a:prstGeom>
          <a:solidFill>
            <a:srgbClr val="F2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Text7"/>
          <p:cNvSpPr txBox="1"/>
          <p:nvPr/>
        </p:nvSpPr>
        <p:spPr>
          <a:xfrm>
            <a:off x="777240" y="1554480"/>
            <a:ext cx="493776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sz="1500" b="1">
                <a:solidFill>
                  <a:srgbClr val="21295C"/>
                </a:solidFill>
                <a:latin typeface="Calibri"/>
                <a:ea typeface="Yu Gothic UI"/>
              </a:rPr>
              <a:t>Type 1(ベアメタル型)</a:t>
            </a:r>
          </a:p>
        </p:txBody>
      </p:sp>
      <p:sp>
        <p:nvSpPr>
          <p:cNvPr id="8" name="Rect8"/>
          <p:cNvSpPr/>
          <p:nvPr/>
        </p:nvSpPr>
        <p:spPr>
          <a:xfrm>
            <a:off x="868680" y="2057400"/>
            <a:ext cx="4709160" cy="1463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65A8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Text9"/>
          <p:cNvSpPr txBox="1"/>
          <p:nvPr/>
        </p:nvSpPr>
        <p:spPr>
          <a:xfrm>
            <a:off x="868680" y="2103120"/>
            <a:ext cx="470916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ja-JP" sz="1200">
                <a:solidFill>
                  <a:srgbClr val="2A2A33"/>
                </a:solidFill>
                <a:latin typeface="Calibri"/>
                <a:ea typeface="Yu Gothic UI"/>
              </a:rPr>
              <a:t>ハイパーバイザー</a:t>
            </a:r>
          </a:p>
        </p:txBody>
      </p:sp>
      <p:sp>
        <p:nvSpPr>
          <p:cNvPr id="10" name="Rect10"/>
          <p:cNvSpPr/>
          <p:nvPr/>
        </p:nvSpPr>
        <p:spPr>
          <a:xfrm>
            <a:off x="1005840" y="2514600"/>
            <a:ext cx="1325880" cy="8229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Text11"/>
          <p:cNvSpPr txBox="1"/>
          <p:nvPr/>
        </p:nvSpPr>
        <p:spPr>
          <a:xfrm>
            <a:off x="1005840" y="2514600"/>
            <a:ext cx="1325880" cy="8229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ja-JP" sz="1200" b="1">
                <a:solidFill>
                  <a:srgbClr val="FFFFFF"/>
                </a:solidFill>
                <a:latin typeface="Calibri"/>
                <a:ea typeface="Yu Gothic UI"/>
              </a:rPr>
              <a:t>VM</a:t>
            </a:r>
          </a:p>
        </p:txBody>
      </p:sp>
      <p:sp>
        <p:nvSpPr>
          <p:cNvPr id="12" name="Rect12"/>
          <p:cNvSpPr/>
          <p:nvPr/>
        </p:nvSpPr>
        <p:spPr>
          <a:xfrm>
            <a:off x="2468880" y="2514600"/>
            <a:ext cx="1325880" cy="8229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Text13"/>
          <p:cNvSpPr txBox="1"/>
          <p:nvPr/>
        </p:nvSpPr>
        <p:spPr>
          <a:xfrm>
            <a:off x="2468880" y="2514600"/>
            <a:ext cx="1325880" cy="8229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ja-JP" sz="1200" b="1">
                <a:solidFill>
                  <a:srgbClr val="FFFFFF"/>
                </a:solidFill>
                <a:latin typeface="Calibri"/>
                <a:ea typeface="Yu Gothic UI"/>
              </a:rPr>
              <a:t>VM</a:t>
            </a:r>
          </a:p>
        </p:txBody>
      </p:sp>
      <p:sp>
        <p:nvSpPr>
          <p:cNvPr id="14" name="Rect14"/>
          <p:cNvSpPr/>
          <p:nvPr/>
        </p:nvSpPr>
        <p:spPr>
          <a:xfrm>
            <a:off x="3931920" y="2514600"/>
            <a:ext cx="1325880" cy="8229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Text15"/>
          <p:cNvSpPr txBox="1"/>
          <p:nvPr/>
        </p:nvSpPr>
        <p:spPr>
          <a:xfrm>
            <a:off x="3931920" y="2514600"/>
            <a:ext cx="1325880" cy="8229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ja-JP" sz="1200" b="1">
                <a:solidFill>
                  <a:srgbClr val="FFFFFF"/>
                </a:solidFill>
                <a:latin typeface="Calibri"/>
                <a:ea typeface="Yu Gothic UI"/>
              </a:rPr>
              <a:t>VM</a:t>
            </a:r>
          </a:p>
        </p:txBody>
      </p:sp>
      <p:sp>
        <p:nvSpPr>
          <p:cNvPr id="16" name="Text16"/>
          <p:cNvSpPr txBox="1"/>
          <p:nvPr/>
        </p:nvSpPr>
        <p:spPr>
          <a:xfrm>
            <a:off x="777240" y="3520440"/>
            <a:ext cx="493776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lang="ja-JP" sz="1100">
                <a:solidFill>
                  <a:srgbClr val="64748B"/>
                </a:solidFill>
                <a:latin typeface="Calibri"/>
                <a:ea typeface="Yu Gothic UI"/>
              </a:rPr>
              <a:t>物理ハードウェア上で直接動作。性能・安定性が高く、企業の本番環境で広く使われる</a:t>
            </a:r>
          </a:p>
        </p:txBody>
      </p:sp>
      <p:sp>
        <p:nvSpPr>
          <p:cNvPr id="17" name="Rect17"/>
          <p:cNvSpPr/>
          <p:nvPr/>
        </p:nvSpPr>
        <p:spPr>
          <a:xfrm>
            <a:off x="6263640" y="1417320"/>
            <a:ext cx="5349240" cy="2286000"/>
          </a:xfrm>
          <a:prstGeom prst="roundRect">
            <a:avLst/>
          </a:prstGeom>
          <a:solidFill>
            <a:srgbClr val="F2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Text18"/>
          <p:cNvSpPr txBox="1"/>
          <p:nvPr/>
        </p:nvSpPr>
        <p:spPr>
          <a:xfrm>
            <a:off x="6492240" y="1554480"/>
            <a:ext cx="493776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sz="1500" b="1">
                <a:solidFill>
                  <a:srgbClr val="21295C"/>
                </a:solidFill>
                <a:latin typeface="Calibri"/>
                <a:ea typeface="Yu Gothic UI"/>
              </a:rPr>
              <a:t>Type 2(ホスト型)</a:t>
            </a:r>
          </a:p>
        </p:txBody>
      </p:sp>
      <p:sp>
        <p:nvSpPr>
          <p:cNvPr id="19" name="Rect19"/>
          <p:cNvSpPr/>
          <p:nvPr/>
        </p:nvSpPr>
        <p:spPr>
          <a:xfrm>
            <a:off x="6583680" y="2057400"/>
            <a:ext cx="4709160" cy="1463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" name="Text20"/>
          <p:cNvSpPr txBox="1"/>
          <p:nvPr/>
        </p:nvSpPr>
        <p:spPr>
          <a:xfrm>
            <a:off x="6583680" y="2103120"/>
            <a:ext cx="470916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ja-JP" sz="1100">
                <a:solidFill>
                  <a:srgbClr val="2A2A33"/>
                </a:solidFill>
                <a:latin typeface="Calibri"/>
                <a:ea typeface="Yu Gothic UI"/>
              </a:rPr>
              <a:t>ホストOS(Windows/macOS等)</a:t>
            </a:r>
          </a:p>
        </p:txBody>
      </p:sp>
      <p:sp>
        <p:nvSpPr>
          <p:cNvPr id="21" name="Rect21"/>
          <p:cNvSpPr/>
          <p:nvPr/>
        </p:nvSpPr>
        <p:spPr>
          <a:xfrm>
            <a:off x="6720840" y="2468880"/>
            <a:ext cx="4434840" cy="9601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Text22"/>
          <p:cNvSpPr txBox="1"/>
          <p:nvPr/>
        </p:nvSpPr>
        <p:spPr>
          <a:xfrm>
            <a:off x="6720840" y="2487168"/>
            <a:ext cx="443484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ja-JP" sz="1100">
                <a:solidFill>
                  <a:srgbClr val="FFFFFF"/>
                </a:solidFill>
                <a:latin typeface="Calibri"/>
                <a:ea typeface="Yu Gothic UI"/>
              </a:rPr>
              <a:t>ハイパーバイザー(アプリとして動作)</a:t>
            </a:r>
          </a:p>
        </p:txBody>
      </p:sp>
      <p:sp>
        <p:nvSpPr>
          <p:cNvPr id="23" name="Rect23"/>
          <p:cNvSpPr/>
          <p:nvPr/>
        </p:nvSpPr>
        <p:spPr>
          <a:xfrm>
            <a:off x="6858000" y="2834640"/>
            <a:ext cx="2011680" cy="5029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" name="Text24"/>
          <p:cNvSpPr txBox="1"/>
          <p:nvPr/>
        </p:nvSpPr>
        <p:spPr>
          <a:xfrm>
            <a:off x="6858000" y="2834640"/>
            <a:ext cx="2011680" cy="5029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ja-JP" sz="1100" b="1">
                <a:solidFill>
                  <a:srgbClr val="FFFFFF"/>
                </a:solidFill>
                <a:latin typeface="Calibri"/>
                <a:ea typeface="Yu Gothic UI"/>
              </a:rPr>
              <a:t>VM</a:t>
            </a:r>
          </a:p>
        </p:txBody>
      </p:sp>
      <p:sp>
        <p:nvSpPr>
          <p:cNvPr id="25" name="Rect25"/>
          <p:cNvSpPr/>
          <p:nvPr/>
        </p:nvSpPr>
        <p:spPr>
          <a:xfrm>
            <a:off x="9052560" y="2834640"/>
            <a:ext cx="2011680" cy="5029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" name="Text26"/>
          <p:cNvSpPr txBox="1"/>
          <p:nvPr/>
        </p:nvSpPr>
        <p:spPr>
          <a:xfrm>
            <a:off x="9052560" y="2834640"/>
            <a:ext cx="2011680" cy="5029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ja-JP" sz="1100" b="1">
                <a:solidFill>
                  <a:srgbClr val="FFFFFF"/>
                </a:solidFill>
                <a:latin typeface="Calibri"/>
                <a:ea typeface="Yu Gothic UI"/>
              </a:rPr>
              <a:t>VM</a:t>
            </a:r>
          </a:p>
        </p:txBody>
      </p:sp>
      <p:sp>
        <p:nvSpPr>
          <p:cNvPr id="27" name="Text27"/>
          <p:cNvSpPr txBox="1"/>
          <p:nvPr/>
        </p:nvSpPr>
        <p:spPr>
          <a:xfrm>
            <a:off x="6492240" y="3520440"/>
            <a:ext cx="493776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lang="ja-JP" sz="1100">
                <a:solidFill>
                  <a:srgbClr val="64748B"/>
                </a:solidFill>
                <a:latin typeface="Calibri"/>
                <a:ea typeface="Yu Gothic UI"/>
              </a:rPr>
              <a:t>通常のOS上にアプリとして導入。検証・開発・個人PCでの利用に向く</a:t>
            </a:r>
          </a:p>
        </p:txBody>
      </p:sp>
      <p:sp>
        <p:nvSpPr>
          <p:cNvPr id="28" name="Text28"/>
          <p:cNvSpPr txBox="1"/>
          <p:nvPr/>
        </p:nvSpPr>
        <p:spPr>
          <a:xfrm>
            <a:off x="548640" y="4114800"/>
            <a:ext cx="1069848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sz="1500" b="1">
                <a:solidFill>
                  <a:srgbClr val="21295C"/>
                </a:solidFill>
                <a:latin typeface="Calibri"/>
                <a:ea typeface="Yu Gothic UI"/>
              </a:rPr>
              <a:t>主なハイパーバイザー製品</a:t>
            </a:r>
          </a:p>
        </p:txBody>
      </p:sp>
      <p:sp>
        <p:nvSpPr>
          <p:cNvPr id="29" name="Rect29"/>
          <p:cNvSpPr/>
          <p:nvPr/>
        </p:nvSpPr>
        <p:spPr>
          <a:xfrm>
            <a:off x="548640" y="4572000"/>
            <a:ext cx="342900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C729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" name="Text30"/>
          <p:cNvSpPr txBox="1"/>
          <p:nvPr/>
        </p:nvSpPr>
        <p:spPr>
          <a:xfrm>
            <a:off x="731520" y="4681728"/>
            <a:ext cx="310896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sz="1300" b="1">
                <a:solidFill>
                  <a:srgbClr val="21295C"/>
                </a:solidFill>
                <a:latin typeface="Calibri"/>
                <a:ea typeface="Yu Gothic UI"/>
              </a:rPr>
              <a:t>VMware ESXi</a:t>
            </a:r>
          </a:p>
        </p:txBody>
      </p:sp>
      <p:sp>
        <p:nvSpPr>
          <p:cNvPr id="31" name="Text31"/>
          <p:cNvSpPr txBox="1"/>
          <p:nvPr/>
        </p:nvSpPr>
        <p:spPr>
          <a:xfrm>
            <a:off x="731520" y="5074920"/>
            <a:ext cx="310896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lang="ja-JP" sz="1100">
                <a:solidFill>
                  <a:srgbClr val="2A2A33"/>
                </a:solidFill>
                <a:latin typeface="Calibri"/>
                <a:ea typeface="Yu Gothic UI"/>
              </a:rPr>
              <a:t>VMware社。商用Type1の代表格</a:t>
            </a:r>
          </a:p>
        </p:txBody>
      </p:sp>
      <p:sp>
        <p:nvSpPr>
          <p:cNvPr id="32" name="Rect32"/>
          <p:cNvSpPr/>
          <p:nvPr/>
        </p:nvSpPr>
        <p:spPr>
          <a:xfrm>
            <a:off x="4206240" y="4572000"/>
            <a:ext cx="342900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C729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Text33"/>
          <p:cNvSpPr txBox="1"/>
          <p:nvPr/>
        </p:nvSpPr>
        <p:spPr>
          <a:xfrm>
            <a:off x="4389120" y="4681728"/>
            <a:ext cx="310896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sz="1300" b="1">
                <a:solidFill>
                  <a:srgbClr val="21295C"/>
                </a:solidFill>
                <a:latin typeface="Calibri"/>
                <a:ea typeface="Yu Gothic UI"/>
              </a:rPr>
              <a:t>Microsoft Hyper-V</a:t>
            </a:r>
          </a:p>
        </p:txBody>
      </p:sp>
      <p:sp>
        <p:nvSpPr>
          <p:cNvPr id="34" name="Text34"/>
          <p:cNvSpPr txBox="1"/>
          <p:nvPr/>
        </p:nvSpPr>
        <p:spPr>
          <a:xfrm>
            <a:off x="4389120" y="5074920"/>
            <a:ext cx="310896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lang="ja-JP" sz="1100">
                <a:solidFill>
                  <a:srgbClr val="2A2A33"/>
                </a:solidFill>
                <a:latin typeface="Calibri"/>
                <a:ea typeface="Yu Gothic UI"/>
              </a:rPr>
              <a:t>Windows Server標準搭載</a:t>
            </a:r>
          </a:p>
        </p:txBody>
      </p:sp>
      <p:sp>
        <p:nvSpPr>
          <p:cNvPr id="35" name="Rect35"/>
          <p:cNvSpPr/>
          <p:nvPr/>
        </p:nvSpPr>
        <p:spPr>
          <a:xfrm>
            <a:off x="7863840" y="4572000"/>
            <a:ext cx="342900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C729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6" name="Text36"/>
          <p:cNvSpPr txBox="1"/>
          <p:nvPr/>
        </p:nvSpPr>
        <p:spPr>
          <a:xfrm>
            <a:off x="8046720" y="4681728"/>
            <a:ext cx="310896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sz="1300" b="1">
                <a:solidFill>
                  <a:srgbClr val="21295C"/>
                </a:solidFill>
                <a:latin typeface="Calibri"/>
                <a:ea typeface="Yu Gothic UI"/>
              </a:rPr>
              <a:t>KVM</a:t>
            </a:r>
          </a:p>
        </p:txBody>
      </p:sp>
      <p:sp>
        <p:nvSpPr>
          <p:cNvPr id="37" name="Text37"/>
          <p:cNvSpPr txBox="1"/>
          <p:nvPr/>
        </p:nvSpPr>
        <p:spPr>
          <a:xfrm>
            <a:off x="8046720" y="5074920"/>
            <a:ext cx="310896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lang="ja-JP" sz="1100">
                <a:solidFill>
                  <a:srgbClr val="2A2A33"/>
                </a:solidFill>
                <a:latin typeface="Calibri"/>
                <a:ea typeface="Yu Gothic UI"/>
              </a:rPr>
              <a:t>Linuxカーネル標準のOSS型。NutanixのAHVもこれを基盤に開発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3"/>
          <p:cNvSpPr txBox="1"/>
          <p:nvPr/>
        </p:nvSpPr>
        <p:spPr>
          <a:xfrm>
            <a:off x="548640" y="164592"/>
            <a:ext cx="731520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sz="1300" b="1">
                <a:solidFill>
                  <a:srgbClr val="9FD8DF"/>
                </a:solidFill>
                <a:latin typeface="Calibri"/>
                <a:ea typeface="Yu Gothic UI"/>
              </a:rPr>
              <a:t>TRADITIONAL 3-TIER</a:t>
            </a:r>
          </a:p>
        </p:txBody>
      </p:sp>
      <p:sp>
        <p:nvSpPr>
          <p:cNvPr id="4" name="Text4"/>
          <p:cNvSpPr txBox="1"/>
          <p:nvPr/>
        </p:nvSpPr>
        <p:spPr>
          <a:xfrm>
            <a:off x="502920" y="411480"/>
            <a:ext cx="10058400" cy="5943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sz="2800" b="1">
                <a:solidFill>
                  <a:srgbClr val="FFFFFF"/>
                </a:solidFill>
                <a:latin typeface="Trebuchet MS"/>
                <a:ea typeface="Yu Gothic UI"/>
              </a:rPr>
              <a:t>従来型の仮想化基盤の構成</a:t>
            </a:r>
          </a:p>
        </p:txBody>
      </p:sp>
      <p:sp>
        <p:nvSpPr>
          <p:cNvPr id="5" name="Oval5"/>
          <p:cNvSpPr/>
          <p:nvPr/>
        </p:nvSpPr>
        <p:spPr>
          <a:xfrm>
            <a:off x="11475720" y="320040"/>
            <a:ext cx="411480" cy="411480"/>
          </a:xfrm>
          <a:prstGeom prst="ellipse">
            <a:avLst/>
          </a:prstGeom>
          <a:solidFill>
            <a:srgbClr val="E874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Text6"/>
          <p:cNvSpPr txBox="1"/>
          <p:nvPr/>
        </p:nvSpPr>
        <p:spPr>
          <a:xfrm>
            <a:off x="548640" y="1371600"/>
            <a:ext cx="1078992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sz="1500">
                <a:solidFill>
                  <a:srgbClr val="2A2A33"/>
                </a:solidFill>
                <a:latin typeface="Calibri"/>
                <a:ea typeface="Yu Gothic UI"/>
              </a:rPr>
              <a:t>サーバー・ストレージ・ネットワークがそれぞれ別の専用機器として構成される「3層構成」が一般的でした。</a:t>
            </a:r>
          </a:p>
        </p:txBody>
      </p:sp>
      <p:sp>
        <p:nvSpPr>
          <p:cNvPr id="7" name="Rect7"/>
          <p:cNvSpPr/>
          <p:nvPr/>
        </p:nvSpPr>
        <p:spPr>
          <a:xfrm>
            <a:off x="914400" y="2057400"/>
            <a:ext cx="4206240" cy="8229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Text8"/>
          <p:cNvSpPr txBox="1"/>
          <p:nvPr/>
        </p:nvSpPr>
        <p:spPr>
          <a:xfrm>
            <a:off x="914400" y="2057400"/>
            <a:ext cx="4206240" cy="8229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ja-JP" sz="1600" b="1">
                <a:solidFill>
                  <a:srgbClr val="FFFFFF"/>
                </a:solidFill>
                <a:latin typeface="Calibri"/>
                <a:ea typeface="Yu Gothic UI"/>
              </a:rPr>
              <a:t>サーバー層</a:t>
            </a:r>
          </a:p>
        </p:txBody>
      </p:sp>
      <p:sp>
        <p:nvSpPr>
          <p:cNvPr id="9" name="Text9"/>
          <p:cNvSpPr txBox="1"/>
          <p:nvPr/>
        </p:nvSpPr>
        <p:spPr>
          <a:xfrm>
            <a:off x="5486400" y="2057400"/>
            <a:ext cx="5760720" cy="8229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lang="ja-JP" sz="1300">
                <a:solidFill>
                  <a:srgbClr val="2A2A33"/>
                </a:solidFill>
                <a:latin typeface="Calibri"/>
                <a:ea typeface="Yu Gothic UI"/>
              </a:rPr>
              <a:t>仮想化ソフトを動かすラックサーバー(コンピュート)</a:t>
            </a:r>
          </a:p>
        </p:txBody>
      </p:sp>
      <p:cxnSp>
        <p:nvCxnSpPr>
          <p:cNvPr id="10" name="Line10"/>
          <p:cNvCxnSpPr/>
          <p:nvPr/>
        </p:nvCxnSpPr>
        <p:spPr>
          <a:xfrm>
            <a:off x="3017520" y="2880360"/>
            <a:ext cx="914" cy="228600"/>
          </a:xfrm>
          <a:prstGeom prst="line">
            <a:avLst/>
          </a:prstGeom>
          <a:ln w="19050">
            <a:solidFill>
              <a:srgbClr val="64748B"/>
            </a:solidFill>
          </a:ln>
        </p:spPr>
      </p:cxnSp>
      <p:sp>
        <p:nvSpPr>
          <p:cNvPr id="11" name="Rect11"/>
          <p:cNvSpPr/>
          <p:nvPr/>
        </p:nvSpPr>
        <p:spPr>
          <a:xfrm>
            <a:off x="914400" y="3108960"/>
            <a:ext cx="4206240" cy="8229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Text12"/>
          <p:cNvSpPr txBox="1"/>
          <p:nvPr/>
        </p:nvSpPr>
        <p:spPr>
          <a:xfrm>
            <a:off x="914400" y="3108960"/>
            <a:ext cx="4206240" cy="8229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ja-JP" sz="1600" b="1">
                <a:solidFill>
                  <a:srgbClr val="FFFFFF"/>
                </a:solidFill>
                <a:latin typeface="Calibri"/>
                <a:ea typeface="Yu Gothic UI"/>
              </a:rPr>
              <a:t>ストレージ層</a:t>
            </a:r>
          </a:p>
        </p:txBody>
      </p:sp>
      <p:sp>
        <p:nvSpPr>
          <p:cNvPr id="13" name="Text13"/>
          <p:cNvSpPr txBox="1"/>
          <p:nvPr/>
        </p:nvSpPr>
        <p:spPr>
          <a:xfrm>
            <a:off x="5486400" y="3108960"/>
            <a:ext cx="5760720" cy="8229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lang="ja-JP" sz="1300">
                <a:solidFill>
                  <a:srgbClr val="2A2A33"/>
                </a:solidFill>
                <a:latin typeface="Calibri"/>
                <a:ea typeface="Yu Gothic UI"/>
              </a:rPr>
              <a:t>SAN/NASなど共有ストレージ専用機器</a:t>
            </a:r>
          </a:p>
        </p:txBody>
      </p:sp>
      <p:cxnSp>
        <p:nvCxnSpPr>
          <p:cNvPr id="14" name="Line14"/>
          <p:cNvCxnSpPr/>
          <p:nvPr/>
        </p:nvCxnSpPr>
        <p:spPr>
          <a:xfrm>
            <a:off x="3017520" y="3931920"/>
            <a:ext cx="914" cy="228600"/>
          </a:xfrm>
          <a:prstGeom prst="line">
            <a:avLst/>
          </a:prstGeom>
          <a:ln w="19050">
            <a:solidFill>
              <a:srgbClr val="64748B"/>
            </a:solidFill>
          </a:ln>
        </p:spPr>
      </p:cxnSp>
      <p:sp>
        <p:nvSpPr>
          <p:cNvPr id="15" name="Rect15"/>
          <p:cNvSpPr/>
          <p:nvPr/>
        </p:nvSpPr>
        <p:spPr>
          <a:xfrm>
            <a:off x="914400" y="4160520"/>
            <a:ext cx="4206240" cy="82296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Text16"/>
          <p:cNvSpPr txBox="1"/>
          <p:nvPr/>
        </p:nvSpPr>
        <p:spPr>
          <a:xfrm>
            <a:off x="914400" y="4160520"/>
            <a:ext cx="4206240" cy="8229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ja-JP" sz="1600" b="1">
                <a:solidFill>
                  <a:srgbClr val="FFFFFF"/>
                </a:solidFill>
                <a:latin typeface="Calibri"/>
                <a:ea typeface="Yu Gothic UI"/>
              </a:rPr>
              <a:t>ネットワーク層</a:t>
            </a:r>
          </a:p>
        </p:txBody>
      </p:sp>
      <p:sp>
        <p:nvSpPr>
          <p:cNvPr id="17" name="Text17"/>
          <p:cNvSpPr txBox="1"/>
          <p:nvPr/>
        </p:nvSpPr>
        <p:spPr>
          <a:xfrm>
            <a:off x="5486400" y="4160520"/>
            <a:ext cx="5760720" cy="8229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lang="ja-JP" sz="1300">
                <a:solidFill>
                  <a:srgbClr val="2A2A33"/>
                </a:solidFill>
                <a:latin typeface="Calibri"/>
                <a:ea typeface="Yu Gothic UI"/>
              </a:rPr>
              <a:t>サーバーとストレージを接続するSANスイッチ・LAN</a:t>
            </a:r>
          </a:p>
        </p:txBody>
      </p:sp>
      <p:sp>
        <p:nvSpPr>
          <p:cNvPr id="18" name="Text18"/>
          <p:cNvSpPr txBox="1"/>
          <p:nvPr/>
        </p:nvSpPr>
        <p:spPr>
          <a:xfrm>
            <a:off x="914400" y="5349240"/>
            <a:ext cx="1033272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sz="1300">
                <a:solidFill>
                  <a:srgbClr val="64748B"/>
                </a:solidFill>
                <a:latin typeface="Calibri"/>
                <a:ea typeface="Yu Gothic UI"/>
              </a:rPr>
              <a:t>それぞれ別ベンダー・別機器のため、個別に導入・拡張・保守する必要がありました。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3"/>
          <p:cNvSpPr txBox="1"/>
          <p:nvPr/>
        </p:nvSpPr>
        <p:spPr>
          <a:xfrm>
            <a:off x="548640" y="164592"/>
            <a:ext cx="731520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sz="1300" b="1">
                <a:solidFill>
                  <a:srgbClr val="9FD8DF"/>
                </a:solidFill>
                <a:latin typeface="Calibri"/>
                <a:ea typeface="Yu Gothic UI"/>
              </a:rPr>
              <a:t>PAIN POINTS</a:t>
            </a:r>
          </a:p>
        </p:txBody>
      </p:sp>
      <p:sp>
        <p:nvSpPr>
          <p:cNvPr id="4" name="Text4"/>
          <p:cNvSpPr txBox="1"/>
          <p:nvPr/>
        </p:nvSpPr>
        <p:spPr>
          <a:xfrm>
            <a:off x="502920" y="411480"/>
            <a:ext cx="10058400" cy="5943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sz="2800" b="1">
                <a:solidFill>
                  <a:srgbClr val="FFFFFF"/>
                </a:solidFill>
                <a:latin typeface="Trebuchet MS"/>
                <a:ea typeface="Yu Gothic UI"/>
              </a:rPr>
              <a:t>従来型構成の課題</a:t>
            </a:r>
          </a:p>
        </p:txBody>
      </p:sp>
      <p:sp>
        <p:nvSpPr>
          <p:cNvPr id="5" name="Oval5"/>
          <p:cNvSpPr/>
          <p:nvPr/>
        </p:nvSpPr>
        <p:spPr>
          <a:xfrm>
            <a:off x="11475720" y="320040"/>
            <a:ext cx="411480" cy="411480"/>
          </a:xfrm>
          <a:prstGeom prst="ellipse">
            <a:avLst/>
          </a:prstGeom>
          <a:solidFill>
            <a:srgbClr val="E874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Rect6"/>
          <p:cNvSpPr/>
          <p:nvPr/>
        </p:nvSpPr>
        <p:spPr>
          <a:xfrm>
            <a:off x="548640" y="1463040"/>
            <a:ext cx="5212080" cy="2011680"/>
          </a:xfrm>
          <a:prstGeom prst="roundRect">
            <a:avLst/>
          </a:prstGeom>
          <a:solidFill>
            <a:srgbClr val="F2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Rect7"/>
          <p:cNvSpPr/>
          <p:nvPr/>
        </p:nvSpPr>
        <p:spPr>
          <a:xfrm>
            <a:off x="548640" y="1463040"/>
            <a:ext cx="109728" cy="2011680"/>
          </a:xfrm>
          <a:prstGeom prst="rect">
            <a:avLst/>
          </a:prstGeom>
          <a:solidFill>
            <a:srgbClr val="E874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Text8"/>
          <p:cNvSpPr txBox="1"/>
          <p:nvPr/>
        </p:nvSpPr>
        <p:spPr>
          <a:xfrm>
            <a:off x="822960" y="1645920"/>
            <a:ext cx="4663440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sz="1500" b="1">
                <a:solidFill>
                  <a:srgbClr val="21295C"/>
                </a:solidFill>
                <a:latin typeface="Calibri"/>
                <a:ea typeface="Yu Gothic UI"/>
              </a:rPr>
              <a:t>構成が複雑</a:t>
            </a:r>
          </a:p>
        </p:txBody>
      </p:sp>
      <p:sp>
        <p:nvSpPr>
          <p:cNvPr id="9" name="Text9"/>
          <p:cNvSpPr txBox="1"/>
          <p:nvPr/>
        </p:nvSpPr>
        <p:spPr>
          <a:xfrm>
            <a:off x="822960" y="2148840"/>
            <a:ext cx="4663440" cy="11887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lang="ja-JP" sz="1200">
                <a:solidFill>
                  <a:srgbClr val="2A2A33"/>
                </a:solidFill>
                <a:latin typeface="Calibri"/>
                <a:ea typeface="Yu Gothic UI"/>
              </a:rPr>
              <a:t>サーバー・ストレージ・ネットワークを個別に設計・検証する必要があり、専門知識が分散する</a:t>
            </a:r>
          </a:p>
        </p:txBody>
      </p:sp>
      <p:sp>
        <p:nvSpPr>
          <p:cNvPr id="10" name="Rect10"/>
          <p:cNvSpPr/>
          <p:nvPr/>
        </p:nvSpPr>
        <p:spPr>
          <a:xfrm>
            <a:off x="6035040" y="1463040"/>
            <a:ext cx="5212080" cy="2011680"/>
          </a:xfrm>
          <a:prstGeom prst="roundRect">
            <a:avLst/>
          </a:prstGeom>
          <a:solidFill>
            <a:srgbClr val="F2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Rect11"/>
          <p:cNvSpPr/>
          <p:nvPr/>
        </p:nvSpPr>
        <p:spPr>
          <a:xfrm>
            <a:off x="6035040" y="1463040"/>
            <a:ext cx="109728" cy="2011680"/>
          </a:xfrm>
          <a:prstGeom prst="rect">
            <a:avLst/>
          </a:prstGeom>
          <a:solidFill>
            <a:srgbClr val="E874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Text12"/>
          <p:cNvSpPr txBox="1"/>
          <p:nvPr/>
        </p:nvSpPr>
        <p:spPr>
          <a:xfrm>
            <a:off x="6309360" y="1645920"/>
            <a:ext cx="4663440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sz="1500" b="1">
                <a:solidFill>
                  <a:srgbClr val="21295C"/>
                </a:solidFill>
                <a:latin typeface="Calibri"/>
                <a:ea typeface="Yu Gothic UI"/>
              </a:rPr>
              <a:t>拡張に時間がかかる</a:t>
            </a:r>
          </a:p>
        </p:txBody>
      </p:sp>
      <p:sp>
        <p:nvSpPr>
          <p:cNvPr id="13" name="Text13"/>
          <p:cNvSpPr txBox="1"/>
          <p:nvPr/>
        </p:nvSpPr>
        <p:spPr>
          <a:xfrm>
            <a:off x="6309360" y="2148840"/>
            <a:ext cx="4663440" cy="11887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lang="ja-JP" sz="1200">
                <a:solidFill>
                  <a:srgbClr val="2A2A33"/>
                </a:solidFill>
                <a:latin typeface="Calibri"/>
                <a:ea typeface="Yu Gothic UI"/>
              </a:rPr>
              <a:t>容量や性能を増やす際、機器の選定・発注・設置に数週間〜数ヶ月を要する</a:t>
            </a:r>
          </a:p>
        </p:txBody>
      </p:sp>
      <p:sp>
        <p:nvSpPr>
          <p:cNvPr id="14" name="Rect14"/>
          <p:cNvSpPr/>
          <p:nvPr/>
        </p:nvSpPr>
        <p:spPr>
          <a:xfrm>
            <a:off x="548640" y="3749040"/>
            <a:ext cx="5212080" cy="2011680"/>
          </a:xfrm>
          <a:prstGeom prst="roundRect">
            <a:avLst/>
          </a:prstGeom>
          <a:solidFill>
            <a:srgbClr val="F2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Rect15"/>
          <p:cNvSpPr/>
          <p:nvPr/>
        </p:nvSpPr>
        <p:spPr>
          <a:xfrm>
            <a:off x="548640" y="3749040"/>
            <a:ext cx="109728" cy="2011680"/>
          </a:xfrm>
          <a:prstGeom prst="rect">
            <a:avLst/>
          </a:prstGeom>
          <a:solidFill>
            <a:srgbClr val="E874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Text16"/>
          <p:cNvSpPr txBox="1"/>
          <p:nvPr/>
        </p:nvSpPr>
        <p:spPr>
          <a:xfrm>
            <a:off x="822960" y="3931920"/>
            <a:ext cx="4663440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sz="1500" b="1">
                <a:solidFill>
                  <a:srgbClr val="21295C"/>
                </a:solidFill>
                <a:latin typeface="Calibri"/>
                <a:ea typeface="Yu Gothic UI"/>
              </a:rPr>
              <a:t>保守・運用の負荷</a:t>
            </a:r>
          </a:p>
        </p:txBody>
      </p:sp>
      <p:sp>
        <p:nvSpPr>
          <p:cNvPr id="17" name="Text17"/>
          <p:cNvSpPr txBox="1"/>
          <p:nvPr/>
        </p:nvSpPr>
        <p:spPr>
          <a:xfrm>
            <a:off x="822960" y="4434840"/>
            <a:ext cx="4663440" cy="11887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lang="ja-JP" sz="1200">
                <a:solidFill>
                  <a:srgbClr val="2A2A33"/>
                </a:solidFill>
                <a:latin typeface="Calibri"/>
                <a:ea typeface="Yu Gothic UI"/>
              </a:rPr>
              <a:t>機器ごとに異なる管理ツール・サポート窓口があり、障害時の原因切り分けが難しい</a:t>
            </a:r>
          </a:p>
        </p:txBody>
      </p:sp>
      <p:sp>
        <p:nvSpPr>
          <p:cNvPr id="18" name="Rect18"/>
          <p:cNvSpPr/>
          <p:nvPr/>
        </p:nvSpPr>
        <p:spPr>
          <a:xfrm>
            <a:off x="6035040" y="3749040"/>
            <a:ext cx="5212080" cy="2011680"/>
          </a:xfrm>
          <a:prstGeom prst="roundRect">
            <a:avLst/>
          </a:prstGeom>
          <a:solidFill>
            <a:srgbClr val="F2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Rect19"/>
          <p:cNvSpPr/>
          <p:nvPr/>
        </p:nvSpPr>
        <p:spPr>
          <a:xfrm>
            <a:off x="6035040" y="3749040"/>
            <a:ext cx="109728" cy="2011680"/>
          </a:xfrm>
          <a:prstGeom prst="rect">
            <a:avLst/>
          </a:prstGeom>
          <a:solidFill>
            <a:srgbClr val="E874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Text20"/>
          <p:cNvSpPr txBox="1"/>
          <p:nvPr/>
        </p:nvSpPr>
        <p:spPr>
          <a:xfrm>
            <a:off x="6309360" y="3931920"/>
            <a:ext cx="4663440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sz="1500" b="1">
                <a:solidFill>
                  <a:srgbClr val="21295C"/>
                </a:solidFill>
                <a:latin typeface="Calibri"/>
                <a:ea typeface="Yu Gothic UI"/>
              </a:rPr>
              <a:t>初期投資が大きい</a:t>
            </a:r>
          </a:p>
        </p:txBody>
      </p:sp>
      <p:sp>
        <p:nvSpPr>
          <p:cNvPr id="21" name="Text21"/>
          <p:cNvSpPr txBox="1"/>
          <p:nvPr/>
        </p:nvSpPr>
        <p:spPr>
          <a:xfrm>
            <a:off x="6309360" y="4434840"/>
            <a:ext cx="4663440" cy="11887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lang="ja-JP" sz="1200">
                <a:solidFill>
                  <a:srgbClr val="2A2A33"/>
                </a:solidFill>
                <a:latin typeface="Calibri"/>
                <a:ea typeface="Yu Gothic UI"/>
              </a:rPr>
              <a:t>将来の最大規模を見越して機器を購入するため、初期コストが高くなりやすい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3"/>
          <p:cNvSpPr txBox="1"/>
          <p:nvPr/>
        </p:nvSpPr>
        <p:spPr>
          <a:xfrm>
            <a:off x="548640" y="164592"/>
            <a:ext cx="731520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sz="1300" b="1">
                <a:solidFill>
                  <a:srgbClr val="9FD8DF"/>
                </a:solidFill>
                <a:latin typeface="Calibri"/>
                <a:ea typeface="Yu Gothic UI"/>
              </a:rPr>
              <a:t>HCI CONCEPT</a:t>
            </a:r>
          </a:p>
        </p:txBody>
      </p:sp>
      <p:sp>
        <p:nvSpPr>
          <p:cNvPr id="4" name="Text4"/>
          <p:cNvSpPr txBox="1"/>
          <p:nvPr/>
        </p:nvSpPr>
        <p:spPr>
          <a:xfrm>
            <a:off x="502920" y="411480"/>
            <a:ext cx="10058400" cy="5943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sz="2800" b="1">
                <a:solidFill>
                  <a:srgbClr val="FFFFFF"/>
                </a:solidFill>
                <a:latin typeface="Trebuchet MS"/>
                <a:ea typeface="Yu Gothic UI"/>
              </a:rPr>
              <a:t>HCI(ハイパーコンバージドインフラ)とは</a:t>
            </a:r>
          </a:p>
        </p:txBody>
      </p:sp>
      <p:sp>
        <p:nvSpPr>
          <p:cNvPr id="5" name="Oval5"/>
          <p:cNvSpPr/>
          <p:nvPr/>
        </p:nvSpPr>
        <p:spPr>
          <a:xfrm>
            <a:off x="11475720" y="320040"/>
            <a:ext cx="411480" cy="411480"/>
          </a:xfrm>
          <a:prstGeom prst="ellipse">
            <a:avLst/>
          </a:prstGeom>
          <a:solidFill>
            <a:srgbClr val="E874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Text6"/>
          <p:cNvSpPr txBox="1"/>
          <p:nvPr/>
        </p:nvSpPr>
        <p:spPr>
          <a:xfrm>
            <a:off x="548640" y="1371600"/>
            <a:ext cx="1078992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lang="ja-JP" sz="1600">
                <a:solidFill>
                  <a:srgbClr val="2A2A33"/>
                </a:solidFill>
                <a:latin typeface="Calibri"/>
                <a:ea typeface="Yu Gothic UI"/>
              </a:rPr>
              <a:t>サーバー・ストレージ・ネットワークの機能を、汎用的なx86サーバー上の</a:t>
            </a:r>
          </a:p>
          <a:p>
            <a:pPr algn="l">
              <a:lnSpc>
                <a:spcPct val="130000"/>
              </a:lnSpc>
            </a:pPr>
            <a:r>
              <a:rPr lang="ja-JP" sz="1600">
                <a:solidFill>
                  <a:srgbClr val="2A2A33"/>
                </a:solidFill>
                <a:latin typeface="Calibri"/>
                <a:ea typeface="Yu Gothic UI"/>
              </a:rPr>
              <a:t>ソフトウェアとして1つに統合したアーキテクチャです。</a:t>
            </a:r>
          </a:p>
        </p:txBody>
      </p:sp>
      <p:sp>
        <p:nvSpPr>
          <p:cNvPr id="7" name="Rect7"/>
          <p:cNvSpPr/>
          <p:nvPr/>
        </p:nvSpPr>
        <p:spPr>
          <a:xfrm>
            <a:off x="1097280" y="2651760"/>
            <a:ext cx="228600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65A8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Text8"/>
          <p:cNvSpPr txBox="1"/>
          <p:nvPr/>
        </p:nvSpPr>
        <p:spPr>
          <a:xfrm>
            <a:off x="1097280" y="2743200"/>
            <a:ext cx="22860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ja-JP" sz="1300" b="1">
                <a:solidFill>
                  <a:srgbClr val="21295C"/>
                </a:solidFill>
                <a:latin typeface="Calibri"/>
                <a:ea typeface="Yu Gothic UI"/>
              </a:rPr>
              <a:t>ノード1</a:t>
            </a:r>
          </a:p>
        </p:txBody>
      </p:sp>
      <p:sp>
        <p:nvSpPr>
          <p:cNvPr id="9" name="Rect9"/>
          <p:cNvSpPr/>
          <p:nvPr/>
        </p:nvSpPr>
        <p:spPr>
          <a:xfrm>
            <a:off x="1280160" y="3154680"/>
            <a:ext cx="1920240" cy="6400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Text10"/>
          <p:cNvSpPr txBox="1"/>
          <p:nvPr/>
        </p:nvSpPr>
        <p:spPr>
          <a:xfrm>
            <a:off x="1280160" y="3154680"/>
            <a:ext cx="1920240" cy="6400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ja-JP" sz="1200" b="1">
                <a:solidFill>
                  <a:srgbClr val="FFFFFF"/>
                </a:solidFill>
                <a:latin typeface="Calibri"/>
                <a:ea typeface="Yu Gothic UI"/>
              </a:rPr>
              <a:t>コンピュート</a:t>
            </a:r>
          </a:p>
        </p:txBody>
      </p:sp>
      <p:sp>
        <p:nvSpPr>
          <p:cNvPr id="11" name="Rect11"/>
          <p:cNvSpPr/>
          <p:nvPr/>
        </p:nvSpPr>
        <p:spPr>
          <a:xfrm>
            <a:off x="1280160" y="3886200"/>
            <a:ext cx="1920240" cy="6400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Text12"/>
          <p:cNvSpPr txBox="1"/>
          <p:nvPr/>
        </p:nvSpPr>
        <p:spPr>
          <a:xfrm>
            <a:off x="1280160" y="3886200"/>
            <a:ext cx="1920240" cy="6400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ja-JP" sz="1200" b="1">
                <a:solidFill>
                  <a:srgbClr val="FFFFFF"/>
                </a:solidFill>
                <a:latin typeface="Calibri"/>
                <a:ea typeface="Yu Gothic UI"/>
              </a:rPr>
              <a:t>ストレージ</a:t>
            </a:r>
          </a:p>
        </p:txBody>
      </p:sp>
      <p:sp>
        <p:nvSpPr>
          <p:cNvPr id="13" name="Text13"/>
          <p:cNvSpPr txBox="1"/>
          <p:nvPr/>
        </p:nvSpPr>
        <p:spPr>
          <a:xfrm>
            <a:off x="1280160" y="4617720"/>
            <a:ext cx="1920240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ja-JP" sz="1000">
                <a:solidFill>
                  <a:srgbClr val="64748B"/>
                </a:solidFill>
                <a:latin typeface="Calibri"/>
                <a:ea typeface="Yu Gothic UI"/>
              </a:rPr>
              <a:t>標準x86サーバー</a:t>
            </a:r>
          </a:p>
        </p:txBody>
      </p:sp>
      <p:sp>
        <p:nvSpPr>
          <p:cNvPr id="14" name="Rect14"/>
          <p:cNvSpPr/>
          <p:nvPr/>
        </p:nvSpPr>
        <p:spPr>
          <a:xfrm>
            <a:off x="3749040" y="2651760"/>
            <a:ext cx="228600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65A8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Text15"/>
          <p:cNvSpPr txBox="1"/>
          <p:nvPr/>
        </p:nvSpPr>
        <p:spPr>
          <a:xfrm>
            <a:off x="3749040" y="2743200"/>
            <a:ext cx="22860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ja-JP" sz="1300" b="1">
                <a:solidFill>
                  <a:srgbClr val="21295C"/>
                </a:solidFill>
                <a:latin typeface="Calibri"/>
                <a:ea typeface="Yu Gothic UI"/>
              </a:rPr>
              <a:t>ノード2</a:t>
            </a:r>
          </a:p>
        </p:txBody>
      </p:sp>
      <p:sp>
        <p:nvSpPr>
          <p:cNvPr id="16" name="Rect16"/>
          <p:cNvSpPr/>
          <p:nvPr/>
        </p:nvSpPr>
        <p:spPr>
          <a:xfrm>
            <a:off x="3931920" y="3154680"/>
            <a:ext cx="1920240" cy="6400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Text17"/>
          <p:cNvSpPr txBox="1"/>
          <p:nvPr/>
        </p:nvSpPr>
        <p:spPr>
          <a:xfrm>
            <a:off x="3931920" y="3154680"/>
            <a:ext cx="1920240" cy="6400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ja-JP" sz="1200" b="1">
                <a:solidFill>
                  <a:srgbClr val="FFFFFF"/>
                </a:solidFill>
                <a:latin typeface="Calibri"/>
                <a:ea typeface="Yu Gothic UI"/>
              </a:rPr>
              <a:t>コンピュート</a:t>
            </a:r>
          </a:p>
        </p:txBody>
      </p:sp>
      <p:sp>
        <p:nvSpPr>
          <p:cNvPr id="18" name="Rect18"/>
          <p:cNvSpPr/>
          <p:nvPr/>
        </p:nvSpPr>
        <p:spPr>
          <a:xfrm>
            <a:off x="3931920" y="3886200"/>
            <a:ext cx="1920240" cy="6400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Text19"/>
          <p:cNvSpPr txBox="1"/>
          <p:nvPr/>
        </p:nvSpPr>
        <p:spPr>
          <a:xfrm>
            <a:off x="3931920" y="3886200"/>
            <a:ext cx="1920240" cy="6400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ja-JP" sz="1200" b="1">
                <a:solidFill>
                  <a:srgbClr val="FFFFFF"/>
                </a:solidFill>
                <a:latin typeface="Calibri"/>
                <a:ea typeface="Yu Gothic UI"/>
              </a:rPr>
              <a:t>ストレージ</a:t>
            </a:r>
          </a:p>
        </p:txBody>
      </p:sp>
      <p:sp>
        <p:nvSpPr>
          <p:cNvPr id="20" name="Text20"/>
          <p:cNvSpPr txBox="1"/>
          <p:nvPr/>
        </p:nvSpPr>
        <p:spPr>
          <a:xfrm>
            <a:off x="3931920" y="4617720"/>
            <a:ext cx="1920240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ja-JP" sz="1000">
                <a:solidFill>
                  <a:srgbClr val="64748B"/>
                </a:solidFill>
                <a:latin typeface="Calibri"/>
                <a:ea typeface="Yu Gothic UI"/>
              </a:rPr>
              <a:t>標準x86サーバー</a:t>
            </a:r>
          </a:p>
        </p:txBody>
      </p:sp>
      <p:sp>
        <p:nvSpPr>
          <p:cNvPr id="21" name="Rect21"/>
          <p:cNvSpPr/>
          <p:nvPr/>
        </p:nvSpPr>
        <p:spPr>
          <a:xfrm>
            <a:off x="6400800" y="2651760"/>
            <a:ext cx="228600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65A8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" name="Text22"/>
          <p:cNvSpPr txBox="1"/>
          <p:nvPr/>
        </p:nvSpPr>
        <p:spPr>
          <a:xfrm>
            <a:off x="6400800" y="2743200"/>
            <a:ext cx="22860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ja-JP" sz="1300" b="1">
                <a:solidFill>
                  <a:srgbClr val="21295C"/>
                </a:solidFill>
                <a:latin typeface="Calibri"/>
                <a:ea typeface="Yu Gothic UI"/>
              </a:rPr>
              <a:t>ノード3</a:t>
            </a:r>
          </a:p>
        </p:txBody>
      </p:sp>
      <p:sp>
        <p:nvSpPr>
          <p:cNvPr id="23" name="Rect23"/>
          <p:cNvSpPr/>
          <p:nvPr/>
        </p:nvSpPr>
        <p:spPr>
          <a:xfrm>
            <a:off x="6583680" y="3154680"/>
            <a:ext cx="1920240" cy="6400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" name="Text24"/>
          <p:cNvSpPr txBox="1"/>
          <p:nvPr/>
        </p:nvSpPr>
        <p:spPr>
          <a:xfrm>
            <a:off x="6583680" y="3154680"/>
            <a:ext cx="1920240" cy="6400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ja-JP" sz="1200" b="1">
                <a:solidFill>
                  <a:srgbClr val="FFFFFF"/>
                </a:solidFill>
                <a:latin typeface="Calibri"/>
                <a:ea typeface="Yu Gothic UI"/>
              </a:rPr>
              <a:t>コンピュート</a:t>
            </a:r>
          </a:p>
        </p:txBody>
      </p:sp>
      <p:sp>
        <p:nvSpPr>
          <p:cNvPr id="25" name="Rect25"/>
          <p:cNvSpPr/>
          <p:nvPr/>
        </p:nvSpPr>
        <p:spPr>
          <a:xfrm>
            <a:off x="6583680" y="3886200"/>
            <a:ext cx="1920240" cy="6400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" name="Text26"/>
          <p:cNvSpPr txBox="1"/>
          <p:nvPr/>
        </p:nvSpPr>
        <p:spPr>
          <a:xfrm>
            <a:off x="6583680" y="3886200"/>
            <a:ext cx="1920240" cy="6400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ja-JP" sz="1200" b="1">
                <a:solidFill>
                  <a:srgbClr val="FFFFFF"/>
                </a:solidFill>
                <a:latin typeface="Calibri"/>
                <a:ea typeface="Yu Gothic UI"/>
              </a:rPr>
              <a:t>ストレージ</a:t>
            </a:r>
          </a:p>
        </p:txBody>
      </p:sp>
      <p:sp>
        <p:nvSpPr>
          <p:cNvPr id="27" name="Text27"/>
          <p:cNvSpPr txBox="1"/>
          <p:nvPr/>
        </p:nvSpPr>
        <p:spPr>
          <a:xfrm>
            <a:off x="6583680" y="4617720"/>
            <a:ext cx="1920240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ja-JP" sz="1000">
                <a:solidFill>
                  <a:srgbClr val="64748B"/>
                </a:solidFill>
                <a:latin typeface="Calibri"/>
                <a:ea typeface="Yu Gothic UI"/>
              </a:rPr>
              <a:t>標準x86サーバー</a:t>
            </a:r>
          </a:p>
        </p:txBody>
      </p:sp>
      <p:cxnSp>
        <p:nvCxnSpPr>
          <p:cNvPr id="28" name="Line28"/>
          <p:cNvCxnSpPr/>
          <p:nvPr/>
        </p:nvCxnSpPr>
        <p:spPr>
          <a:xfrm>
            <a:off x="3383280" y="4206240"/>
            <a:ext cx="365760" cy="914"/>
          </a:xfrm>
          <a:prstGeom prst="line">
            <a:avLst/>
          </a:prstGeom>
          <a:ln w="25400">
            <a:solidFill>
              <a:srgbClr val="E8744A"/>
            </a:solidFill>
          </a:ln>
        </p:spPr>
      </p:cxnSp>
      <p:cxnSp>
        <p:nvCxnSpPr>
          <p:cNvPr id="29" name="Line29"/>
          <p:cNvCxnSpPr/>
          <p:nvPr/>
        </p:nvCxnSpPr>
        <p:spPr>
          <a:xfrm>
            <a:off x="6035040" y="4206240"/>
            <a:ext cx="365760" cy="914"/>
          </a:xfrm>
          <a:prstGeom prst="line">
            <a:avLst/>
          </a:prstGeom>
          <a:ln w="25400">
            <a:solidFill>
              <a:srgbClr val="E8744A"/>
            </a:solidFill>
          </a:ln>
        </p:spPr>
      </p:cxnSp>
      <p:sp>
        <p:nvSpPr>
          <p:cNvPr id="30" name="Text30"/>
          <p:cNvSpPr txBox="1"/>
          <p:nvPr/>
        </p:nvSpPr>
        <p:spPr>
          <a:xfrm>
            <a:off x="1097280" y="5349240"/>
            <a:ext cx="758952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ja-JP" sz="1300">
                <a:solidFill>
                  <a:srgbClr val="2A2A33"/>
                </a:solidFill>
                <a:latin typeface="Calibri"/>
                <a:ea typeface="Yu Gothic UI"/>
              </a:rPr>
              <a:t>ノードを追加するだけでコンピュート・ストレージ性能を線形に拡張(スケールアウト)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3"/>
          <p:cNvSpPr txBox="1"/>
          <p:nvPr/>
        </p:nvSpPr>
        <p:spPr>
          <a:xfrm>
            <a:off x="548640" y="164592"/>
            <a:ext cx="731520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sz="1300" b="1">
                <a:solidFill>
                  <a:srgbClr val="9FD8DF"/>
                </a:solidFill>
                <a:latin typeface="Calibri"/>
                <a:ea typeface="Yu Gothic UI"/>
              </a:rPr>
              <a:t>NUTANIX OVERVIEW</a:t>
            </a:r>
          </a:p>
        </p:txBody>
      </p:sp>
      <p:sp>
        <p:nvSpPr>
          <p:cNvPr id="4" name="Text4"/>
          <p:cNvSpPr txBox="1"/>
          <p:nvPr/>
        </p:nvSpPr>
        <p:spPr>
          <a:xfrm>
            <a:off x="502920" y="411480"/>
            <a:ext cx="10058400" cy="5943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sz="2800" b="1">
                <a:solidFill>
                  <a:srgbClr val="FFFFFF"/>
                </a:solidFill>
                <a:latin typeface="Trebuchet MS"/>
                <a:ea typeface="Yu Gothic UI"/>
              </a:rPr>
              <a:t>Nutanix仮想基盤とは</a:t>
            </a:r>
          </a:p>
        </p:txBody>
      </p:sp>
      <p:sp>
        <p:nvSpPr>
          <p:cNvPr id="5" name="Oval5"/>
          <p:cNvSpPr/>
          <p:nvPr/>
        </p:nvSpPr>
        <p:spPr>
          <a:xfrm>
            <a:off x="11475720" y="320040"/>
            <a:ext cx="411480" cy="411480"/>
          </a:xfrm>
          <a:prstGeom prst="ellipse">
            <a:avLst/>
          </a:prstGeom>
          <a:solidFill>
            <a:srgbClr val="E874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Text6"/>
          <p:cNvSpPr txBox="1"/>
          <p:nvPr/>
        </p:nvSpPr>
        <p:spPr>
          <a:xfrm>
            <a:off x="548640" y="1371600"/>
            <a:ext cx="1078992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ja-JP" sz="1500">
                <a:solidFill>
                  <a:srgbClr val="2A2A33"/>
                </a:solidFill>
                <a:latin typeface="Calibri"/>
                <a:ea typeface="Yu Gothic UI"/>
              </a:rPr>
              <a:t>Nutanixは、米国Nutanix社が開発するHCI(ハイパーコンバージドインフラ)製品です。"Invisible Infrastructure"を目指し、複雑なインフラをシンプルに運用できます。</a:t>
            </a:r>
          </a:p>
        </p:txBody>
      </p:sp>
      <p:sp>
        <p:nvSpPr>
          <p:cNvPr id="7" name="Rect7"/>
          <p:cNvSpPr/>
          <p:nvPr/>
        </p:nvSpPr>
        <p:spPr>
          <a:xfrm>
            <a:off x="548640" y="2468880"/>
            <a:ext cx="3520440" cy="2651760"/>
          </a:xfrm>
          <a:prstGeom prst="roundRect">
            <a:avLst/>
          </a:prstGeom>
          <a:solidFill>
            <a:srgbClr val="F2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Oval8"/>
          <p:cNvSpPr/>
          <p:nvPr/>
        </p:nvSpPr>
        <p:spPr>
          <a:xfrm>
            <a:off x="777240" y="2697480"/>
            <a:ext cx="640080" cy="64008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Text9"/>
          <p:cNvSpPr txBox="1"/>
          <p:nvPr/>
        </p:nvSpPr>
        <p:spPr>
          <a:xfrm>
            <a:off x="777240" y="2715768"/>
            <a:ext cx="640080" cy="60350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ja-JP" sz="1800" b="1">
                <a:solidFill>
                  <a:srgbClr val="FFFFFF"/>
                </a:solidFill>
                <a:latin typeface="Calibri"/>
                <a:ea typeface="Yu Gothic UI"/>
              </a:rPr>
              <a:t>A</a:t>
            </a:r>
          </a:p>
        </p:txBody>
      </p:sp>
      <p:sp>
        <p:nvSpPr>
          <p:cNvPr id="10" name="Text10"/>
          <p:cNvSpPr txBox="1"/>
          <p:nvPr/>
        </p:nvSpPr>
        <p:spPr>
          <a:xfrm>
            <a:off x="1554480" y="2743200"/>
            <a:ext cx="2331720" cy="5486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sz="1600" b="1">
                <a:solidFill>
                  <a:srgbClr val="21295C"/>
                </a:solidFill>
                <a:latin typeface="Calibri"/>
                <a:ea typeface="Yu Gothic UI"/>
              </a:rPr>
              <a:t>AOS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777240" y="3520440"/>
            <a:ext cx="3063240" cy="1463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lang="ja-JP" sz="1200">
                <a:solidFill>
                  <a:srgbClr val="2A2A33"/>
                </a:solidFill>
                <a:latin typeface="Calibri"/>
                <a:ea typeface="Yu Gothic UI"/>
              </a:rPr>
              <a:t>Acropolis Operating System。ストレージ・ネットワーク・セキュリティなど基盤機能を提供するソフトウェア</a:t>
            </a:r>
          </a:p>
        </p:txBody>
      </p:sp>
      <p:sp>
        <p:nvSpPr>
          <p:cNvPr id="12" name="Rect12"/>
          <p:cNvSpPr/>
          <p:nvPr/>
        </p:nvSpPr>
        <p:spPr>
          <a:xfrm>
            <a:off x="4297680" y="2468880"/>
            <a:ext cx="3520440" cy="2651760"/>
          </a:xfrm>
          <a:prstGeom prst="roundRect">
            <a:avLst/>
          </a:prstGeom>
          <a:solidFill>
            <a:srgbClr val="F2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Oval13"/>
          <p:cNvSpPr/>
          <p:nvPr/>
        </p:nvSpPr>
        <p:spPr>
          <a:xfrm>
            <a:off x="4526280" y="2697480"/>
            <a:ext cx="640080" cy="64008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Text14"/>
          <p:cNvSpPr txBox="1"/>
          <p:nvPr/>
        </p:nvSpPr>
        <p:spPr>
          <a:xfrm>
            <a:off x="4526280" y="2715768"/>
            <a:ext cx="640080" cy="60350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ja-JP" sz="1800" b="1">
                <a:solidFill>
                  <a:srgbClr val="FFFFFF"/>
                </a:solidFill>
                <a:latin typeface="Calibri"/>
                <a:ea typeface="Yu Gothic UI"/>
              </a:rPr>
              <a:t>A</a:t>
            </a:r>
          </a:p>
        </p:txBody>
      </p:sp>
      <p:sp>
        <p:nvSpPr>
          <p:cNvPr id="15" name="Text15"/>
          <p:cNvSpPr txBox="1"/>
          <p:nvPr/>
        </p:nvSpPr>
        <p:spPr>
          <a:xfrm>
            <a:off x="5303520" y="2743200"/>
            <a:ext cx="2331720" cy="5486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sz="1600" b="1">
                <a:solidFill>
                  <a:srgbClr val="21295C"/>
                </a:solidFill>
                <a:latin typeface="Calibri"/>
                <a:ea typeface="Yu Gothic UI"/>
              </a:rPr>
              <a:t>AHV</a:t>
            </a:r>
          </a:p>
        </p:txBody>
      </p:sp>
      <p:sp>
        <p:nvSpPr>
          <p:cNvPr id="16" name="Text16"/>
          <p:cNvSpPr txBox="1"/>
          <p:nvPr/>
        </p:nvSpPr>
        <p:spPr>
          <a:xfrm>
            <a:off x="4526280" y="3520440"/>
            <a:ext cx="3063240" cy="1463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lang="ja-JP" sz="1200">
                <a:solidFill>
                  <a:srgbClr val="2A2A33"/>
                </a:solidFill>
                <a:latin typeface="Calibri"/>
                <a:ea typeface="Yu Gothic UI"/>
              </a:rPr>
              <a:t>Acropolis Hypervisor。Nutanixが提供する標準搭載のハイパーバイザー(KVMベース)</a:t>
            </a:r>
          </a:p>
        </p:txBody>
      </p:sp>
      <p:sp>
        <p:nvSpPr>
          <p:cNvPr id="17" name="Rect17"/>
          <p:cNvSpPr/>
          <p:nvPr/>
        </p:nvSpPr>
        <p:spPr>
          <a:xfrm>
            <a:off x="8046720" y="2468880"/>
            <a:ext cx="3520440" cy="2651760"/>
          </a:xfrm>
          <a:prstGeom prst="roundRect">
            <a:avLst/>
          </a:prstGeom>
          <a:solidFill>
            <a:srgbClr val="F2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Oval18"/>
          <p:cNvSpPr/>
          <p:nvPr/>
        </p:nvSpPr>
        <p:spPr>
          <a:xfrm>
            <a:off x="8275320" y="2697480"/>
            <a:ext cx="640080" cy="64008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Text19"/>
          <p:cNvSpPr txBox="1"/>
          <p:nvPr/>
        </p:nvSpPr>
        <p:spPr>
          <a:xfrm>
            <a:off x="8275320" y="2715768"/>
            <a:ext cx="640080" cy="60350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ja-JP" sz="1800" b="1">
                <a:solidFill>
                  <a:srgbClr val="FFFFFF"/>
                </a:solidFill>
                <a:latin typeface="Calibri"/>
                <a:ea typeface="Yu Gothic UI"/>
              </a:rPr>
              <a:t>P</a:t>
            </a:r>
          </a:p>
        </p:txBody>
      </p:sp>
      <p:sp>
        <p:nvSpPr>
          <p:cNvPr id="20" name="Text20"/>
          <p:cNvSpPr txBox="1"/>
          <p:nvPr/>
        </p:nvSpPr>
        <p:spPr>
          <a:xfrm>
            <a:off x="9052560" y="2743200"/>
            <a:ext cx="2331720" cy="5486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sz="1600" b="1">
                <a:solidFill>
                  <a:srgbClr val="21295C"/>
                </a:solidFill>
                <a:latin typeface="Calibri"/>
                <a:ea typeface="Yu Gothic UI"/>
              </a:rPr>
              <a:t>Prism</a:t>
            </a:r>
          </a:p>
        </p:txBody>
      </p:sp>
      <p:sp>
        <p:nvSpPr>
          <p:cNvPr id="21" name="Text21"/>
          <p:cNvSpPr txBox="1"/>
          <p:nvPr/>
        </p:nvSpPr>
        <p:spPr>
          <a:xfrm>
            <a:off x="8275320" y="3520440"/>
            <a:ext cx="3063240" cy="1463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lang="ja-JP" sz="1200">
                <a:solidFill>
                  <a:srgbClr val="2A2A33"/>
                </a:solidFill>
                <a:latin typeface="Calibri"/>
                <a:ea typeface="Yu Gothic UI"/>
              </a:rPr>
              <a:t>クラスター全体を一元的に可視化・管理するGUI管理コンソール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3"/>
          <p:cNvSpPr txBox="1"/>
          <p:nvPr/>
        </p:nvSpPr>
        <p:spPr>
          <a:xfrm>
            <a:off x="548640" y="164592"/>
            <a:ext cx="731520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sz="1300" b="1">
                <a:solidFill>
                  <a:srgbClr val="9FD8DF"/>
                </a:solidFill>
                <a:latin typeface="Calibri"/>
                <a:ea typeface="Yu Gothic UI"/>
              </a:rPr>
              <a:t>ARCHITECTURE</a:t>
            </a:r>
          </a:p>
        </p:txBody>
      </p:sp>
      <p:sp>
        <p:nvSpPr>
          <p:cNvPr id="4" name="Text4"/>
          <p:cNvSpPr txBox="1"/>
          <p:nvPr/>
        </p:nvSpPr>
        <p:spPr>
          <a:xfrm>
            <a:off x="502920" y="411480"/>
            <a:ext cx="10058400" cy="5943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sz="2800" b="1">
                <a:solidFill>
                  <a:srgbClr val="FFFFFF"/>
                </a:solidFill>
                <a:latin typeface="Trebuchet MS"/>
                <a:ea typeface="Yu Gothic UI"/>
              </a:rPr>
              <a:t>Nutanixのアーキテクチャ</a:t>
            </a:r>
          </a:p>
        </p:txBody>
      </p:sp>
      <p:sp>
        <p:nvSpPr>
          <p:cNvPr id="5" name="Oval5"/>
          <p:cNvSpPr/>
          <p:nvPr/>
        </p:nvSpPr>
        <p:spPr>
          <a:xfrm>
            <a:off x="11475720" y="320040"/>
            <a:ext cx="411480" cy="411480"/>
          </a:xfrm>
          <a:prstGeom prst="ellipse">
            <a:avLst/>
          </a:prstGeom>
          <a:solidFill>
            <a:srgbClr val="E874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Rect6"/>
          <p:cNvSpPr/>
          <p:nvPr/>
        </p:nvSpPr>
        <p:spPr>
          <a:xfrm>
            <a:off x="731520" y="1371600"/>
            <a:ext cx="10698480" cy="59436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Text7"/>
          <p:cNvSpPr txBox="1"/>
          <p:nvPr/>
        </p:nvSpPr>
        <p:spPr>
          <a:xfrm>
            <a:off x="731520" y="1371600"/>
            <a:ext cx="10698480" cy="5943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ja-JP" sz="1400" b="1">
                <a:solidFill>
                  <a:srgbClr val="FFFFFF"/>
                </a:solidFill>
                <a:latin typeface="Calibri"/>
                <a:ea typeface="Yu Gothic UI"/>
              </a:rPr>
              <a:t>Prism(管理レイヤー: クラスター全体をWeb GUIで一元管理)</a:t>
            </a:r>
          </a:p>
        </p:txBody>
      </p:sp>
      <p:sp>
        <p:nvSpPr>
          <p:cNvPr id="8" name="Rect8"/>
          <p:cNvSpPr/>
          <p:nvPr/>
        </p:nvSpPr>
        <p:spPr>
          <a:xfrm>
            <a:off x="868680" y="2286000"/>
            <a:ext cx="324612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65A8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Text9"/>
          <p:cNvSpPr txBox="1"/>
          <p:nvPr/>
        </p:nvSpPr>
        <p:spPr>
          <a:xfrm>
            <a:off x="868680" y="2359152"/>
            <a:ext cx="324612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ja-JP" sz="1100" b="1">
                <a:solidFill>
                  <a:srgbClr val="21295C"/>
                </a:solidFill>
                <a:latin typeface="Calibri"/>
                <a:ea typeface="Yu Gothic UI"/>
              </a:rPr>
              <a:t>ノード1(標準x86サーバー)</a:t>
            </a:r>
          </a:p>
        </p:txBody>
      </p:sp>
      <p:sp>
        <p:nvSpPr>
          <p:cNvPr id="10" name="Rect10"/>
          <p:cNvSpPr/>
          <p:nvPr/>
        </p:nvSpPr>
        <p:spPr>
          <a:xfrm>
            <a:off x="1051560" y="2743200"/>
            <a:ext cx="2880360" cy="5943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Text11"/>
          <p:cNvSpPr txBox="1"/>
          <p:nvPr/>
        </p:nvSpPr>
        <p:spPr>
          <a:xfrm>
            <a:off x="1051560" y="2743200"/>
            <a:ext cx="2880360" cy="5943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ja-JP" sz="1100" b="1">
                <a:solidFill>
                  <a:srgbClr val="FFFFFF"/>
                </a:solidFill>
                <a:latin typeface="Calibri"/>
                <a:ea typeface="Yu Gothic UI"/>
              </a:rPr>
              <a:t>AHV(ハイパーバイザー)</a:t>
            </a:r>
          </a:p>
        </p:txBody>
      </p:sp>
      <p:sp>
        <p:nvSpPr>
          <p:cNvPr id="12" name="Rect12"/>
          <p:cNvSpPr/>
          <p:nvPr/>
        </p:nvSpPr>
        <p:spPr>
          <a:xfrm>
            <a:off x="1143000" y="3429000"/>
            <a:ext cx="914400" cy="548640"/>
          </a:xfrm>
          <a:prstGeom prst="rect">
            <a:avLst/>
          </a:prstGeom>
          <a:solidFill>
            <a:srgbClr val="F2F6FA"/>
          </a:solidFill>
          <a:ln w="9525">
            <a:solidFill>
              <a:srgbClr val="21295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Text13"/>
          <p:cNvSpPr txBox="1"/>
          <p:nvPr/>
        </p:nvSpPr>
        <p:spPr>
          <a:xfrm>
            <a:off x="1143000" y="3429000"/>
            <a:ext cx="914400" cy="5486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ja-JP" sz="1100">
                <a:solidFill>
                  <a:srgbClr val="2A2A33"/>
                </a:solidFill>
                <a:latin typeface="Calibri"/>
                <a:ea typeface="Yu Gothic UI"/>
              </a:rPr>
              <a:t>VM</a:t>
            </a:r>
          </a:p>
        </p:txBody>
      </p:sp>
      <p:sp>
        <p:nvSpPr>
          <p:cNvPr id="14" name="Rect14"/>
          <p:cNvSpPr/>
          <p:nvPr/>
        </p:nvSpPr>
        <p:spPr>
          <a:xfrm>
            <a:off x="2194560" y="3429000"/>
            <a:ext cx="914400" cy="548640"/>
          </a:xfrm>
          <a:prstGeom prst="rect">
            <a:avLst/>
          </a:prstGeom>
          <a:solidFill>
            <a:srgbClr val="F2F6FA"/>
          </a:solidFill>
          <a:ln w="9525">
            <a:solidFill>
              <a:srgbClr val="21295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Text15"/>
          <p:cNvSpPr txBox="1"/>
          <p:nvPr/>
        </p:nvSpPr>
        <p:spPr>
          <a:xfrm>
            <a:off x="2194560" y="3429000"/>
            <a:ext cx="914400" cy="5486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ja-JP" sz="1100">
                <a:solidFill>
                  <a:srgbClr val="2A2A33"/>
                </a:solidFill>
                <a:latin typeface="Calibri"/>
                <a:ea typeface="Yu Gothic UI"/>
              </a:rPr>
              <a:t>VM</a:t>
            </a:r>
          </a:p>
        </p:txBody>
      </p:sp>
      <p:sp>
        <p:nvSpPr>
          <p:cNvPr id="16" name="Rect16"/>
          <p:cNvSpPr/>
          <p:nvPr/>
        </p:nvSpPr>
        <p:spPr>
          <a:xfrm>
            <a:off x="1051560" y="4160520"/>
            <a:ext cx="2880360" cy="594360"/>
          </a:xfrm>
          <a:prstGeom prst="rect">
            <a:avLst/>
          </a:prstGeom>
          <a:solidFill>
            <a:srgbClr val="E874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Text17"/>
          <p:cNvSpPr txBox="1"/>
          <p:nvPr/>
        </p:nvSpPr>
        <p:spPr>
          <a:xfrm>
            <a:off x="1051560" y="4160520"/>
            <a:ext cx="2880360" cy="5943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ja-JP" sz="1000" b="1">
                <a:solidFill>
                  <a:srgbClr val="FFFFFF"/>
                </a:solidFill>
                <a:latin typeface="Calibri"/>
                <a:ea typeface="Yu Gothic UI"/>
              </a:rPr>
              <a:t>CVM(コントローラVM)</a:t>
            </a:r>
          </a:p>
        </p:txBody>
      </p:sp>
      <p:sp>
        <p:nvSpPr>
          <p:cNvPr id="18" name="Rect18"/>
          <p:cNvSpPr/>
          <p:nvPr/>
        </p:nvSpPr>
        <p:spPr>
          <a:xfrm>
            <a:off x="1051560" y="4892040"/>
            <a:ext cx="2880360" cy="5029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Text19"/>
          <p:cNvSpPr txBox="1"/>
          <p:nvPr/>
        </p:nvSpPr>
        <p:spPr>
          <a:xfrm>
            <a:off x="1051560" y="4892040"/>
            <a:ext cx="2880360" cy="5029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ja-JP" sz="1000">
                <a:solidFill>
                  <a:srgbClr val="FFFFFF"/>
                </a:solidFill>
                <a:latin typeface="Calibri"/>
                <a:ea typeface="Yu Gothic UI"/>
              </a:rPr>
              <a:t>ローカルSSD/HDD</a:t>
            </a:r>
          </a:p>
        </p:txBody>
      </p:sp>
      <p:sp>
        <p:nvSpPr>
          <p:cNvPr id="20" name="Rect20"/>
          <p:cNvSpPr/>
          <p:nvPr/>
        </p:nvSpPr>
        <p:spPr>
          <a:xfrm>
            <a:off x="4389120" y="2286000"/>
            <a:ext cx="324612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65A8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Text21"/>
          <p:cNvSpPr txBox="1"/>
          <p:nvPr/>
        </p:nvSpPr>
        <p:spPr>
          <a:xfrm>
            <a:off x="4389120" y="2359152"/>
            <a:ext cx="324612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ja-JP" sz="1100" b="1">
                <a:solidFill>
                  <a:srgbClr val="21295C"/>
                </a:solidFill>
                <a:latin typeface="Calibri"/>
                <a:ea typeface="Yu Gothic UI"/>
              </a:rPr>
              <a:t>ノード2(標準x86サーバー)</a:t>
            </a:r>
          </a:p>
        </p:txBody>
      </p:sp>
      <p:sp>
        <p:nvSpPr>
          <p:cNvPr id="22" name="Rect22"/>
          <p:cNvSpPr/>
          <p:nvPr/>
        </p:nvSpPr>
        <p:spPr>
          <a:xfrm>
            <a:off x="4572000" y="2743200"/>
            <a:ext cx="2880360" cy="5943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" name="Text23"/>
          <p:cNvSpPr txBox="1"/>
          <p:nvPr/>
        </p:nvSpPr>
        <p:spPr>
          <a:xfrm>
            <a:off x="4572000" y="2743200"/>
            <a:ext cx="2880360" cy="5943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ja-JP" sz="1100" b="1">
                <a:solidFill>
                  <a:srgbClr val="FFFFFF"/>
                </a:solidFill>
                <a:latin typeface="Calibri"/>
                <a:ea typeface="Yu Gothic UI"/>
              </a:rPr>
              <a:t>AHV(ハイパーバイザー)</a:t>
            </a:r>
          </a:p>
        </p:txBody>
      </p:sp>
      <p:sp>
        <p:nvSpPr>
          <p:cNvPr id="24" name="Rect24"/>
          <p:cNvSpPr/>
          <p:nvPr/>
        </p:nvSpPr>
        <p:spPr>
          <a:xfrm>
            <a:off x="4663440" y="3429000"/>
            <a:ext cx="914400" cy="548640"/>
          </a:xfrm>
          <a:prstGeom prst="rect">
            <a:avLst/>
          </a:prstGeom>
          <a:solidFill>
            <a:srgbClr val="F2F6FA"/>
          </a:solidFill>
          <a:ln w="9525">
            <a:solidFill>
              <a:srgbClr val="21295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" name="Text25"/>
          <p:cNvSpPr txBox="1"/>
          <p:nvPr/>
        </p:nvSpPr>
        <p:spPr>
          <a:xfrm>
            <a:off x="4663440" y="3429000"/>
            <a:ext cx="914400" cy="5486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ja-JP" sz="1100">
                <a:solidFill>
                  <a:srgbClr val="2A2A33"/>
                </a:solidFill>
                <a:latin typeface="Calibri"/>
                <a:ea typeface="Yu Gothic UI"/>
              </a:rPr>
              <a:t>VM</a:t>
            </a:r>
          </a:p>
        </p:txBody>
      </p:sp>
      <p:sp>
        <p:nvSpPr>
          <p:cNvPr id="26" name="Rect26"/>
          <p:cNvSpPr/>
          <p:nvPr/>
        </p:nvSpPr>
        <p:spPr>
          <a:xfrm>
            <a:off x="5715000" y="3429000"/>
            <a:ext cx="914400" cy="548640"/>
          </a:xfrm>
          <a:prstGeom prst="rect">
            <a:avLst/>
          </a:prstGeom>
          <a:solidFill>
            <a:srgbClr val="F2F6FA"/>
          </a:solidFill>
          <a:ln w="9525">
            <a:solidFill>
              <a:srgbClr val="21295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" name="Text27"/>
          <p:cNvSpPr txBox="1"/>
          <p:nvPr/>
        </p:nvSpPr>
        <p:spPr>
          <a:xfrm>
            <a:off x="5715000" y="3429000"/>
            <a:ext cx="914400" cy="5486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ja-JP" sz="1100">
                <a:solidFill>
                  <a:srgbClr val="2A2A33"/>
                </a:solidFill>
                <a:latin typeface="Calibri"/>
                <a:ea typeface="Yu Gothic UI"/>
              </a:rPr>
              <a:t>VM</a:t>
            </a:r>
          </a:p>
        </p:txBody>
      </p:sp>
      <p:sp>
        <p:nvSpPr>
          <p:cNvPr id="28" name="Rect28"/>
          <p:cNvSpPr/>
          <p:nvPr/>
        </p:nvSpPr>
        <p:spPr>
          <a:xfrm>
            <a:off x="4572000" y="4160520"/>
            <a:ext cx="2880360" cy="594360"/>
          </a:xfrm>
          <a:prstGeom prst="rect">
            <a:avLst/>
          </a:prstGeom>
          <a:solidFill>
            <a:srgbClr val="E874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9" name="Text29"/>
          <p:cNvSpPr txBox="1"/>
          <p:nvPr/>
        </p:nvSpPr>
        <p:spPr>
          <a:xfrm>
            <a:off x="4572000" y="4160520"/>
            <a:ext cx="2880360" cy="5943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ja-JP" sz="1000" b="1">
                <a:solidFill>
                  <a:srgbClr val="FFFFFF"/>
                </a:solidFill>
                <a:latin typeface="Calibri"/>
                <a:ea typeface="Yu Gothic UI"/>
              </a:rPr>
              <a:t>CVM(コントローラVM)</a:t>
            </a:r>
          </a:p>
        </p:txBody>
      </p:sp>
      <p:sp>
        <p:nvSpPr>
          <p:cNvPr id="30" name="Rect30"/>
          <p:cNvSpPr/>
          <p:nvPr/>
        </p:nvSpPr>
        <p:spPr>
          <a:xfrm>
            <a:off x="4572000" y="4892040"/>
            <a:ext cx="2880360" cy="5029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ext31"/>
          <p:cNvSpPr txBox="1"/>
          <p:nvPr/>
        </p:nvSpPr>
        <p:spPr>
          <a:xfrm>
            <a:off x="4572000" y="4892040"/>
            <a:ext cx="2880360" cy="5029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ja-JP" sz="1000">
                <a:solidFill>
                  <a:srgbClr val="FFFFFF"/>
                </a:solidFill>
                <a:latin typeface="Calibri"/>
                <a:ea typeface="Yu Gothic UI"/>
              </a:rPr>
              <a:t>ローカルSSD/HDD</a:t>
            </a:r>
          </a:p>
        </p:txBody>
      </p:sp>
      <p:sp>
        <p:nvSpPr>
          <p:cNvPr id="32" name="Rect32"/>
          <p:cNvSpPr/>
          <p:nvPr/>
        </p:nvSpPr>
        <p:spPr>
          <a:xfrm>
            <a:off x="7909560" y="2286000"/>
            <a:ext cx="324612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65A8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Text33"/>
          <p:cNvSpPr txBox="1"/>
          <p:nvPr/>
        </p:nvSpPr>
        <p:spPr>
          <a:xfrm>
            <a:off x="7909560" y="2359152"/>
            <a:ext cx="324612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ja-JP" sz="1100" b="1">
                <a:solidFill>
                  <a:srgbClr val="21295C"/>
                </a:solidFill>
                <a:latin typeface="Calibri"/>
                <a:ea typeface="Yu Gothic UI"/>
              </a:rPr>
              <a:t>ノード3(標準x86サーバー)</a:t>
            </a:r>
          </a:p>
        </p:txBody>
      </p:sp>
      <p:sp>
        <p:nvSpPr>
          <p:cNvPr id="34" name="Rect34"/>
          <p:cNvSpPr/>
          <p:nvPr/>
        </p:nvSpPr>
        <p:spPr>
          <a:xfrm>
            <a:off x="8092440" y="2743200"/>
            <a:ext cx="2880360" cy="5943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5" name="Text35"/>
          <p:cNvSpPr txBox="1"/>
          <p:nvPr/>
        </p:nvSpPr>
        <p:spPr>
          <a:xfrm>
            <a:off x="8092440" y="2743200"/>
            <a:ext cx="2880360" cy="5943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ja-JP" sz="1100" b="1">
                <a:solidFill>
                  <a:srgbClr val="FFFFFF"/>
                </a:solidFill>
                <a:latin typeface="Calibri"/>
                <a:ea typeface="Yu Gothic UI"/>
              </a:rPr>
              <a:t>AHV(ハイパーバイザー)</a:t>
            </a:r>
          </a:p>
        </p:txBody>
      </p:sp>
      <p:sp>
        <p:nvSpPr>
          <p:cNvPr id="36" name="Rect36"/>
          <p:cNvSpPr/>
          <p:nvPr/>
        </p:nvSpPr>
        <p:spPr>
          <a:xfrm>
            <a:off x="8183880" y="3429000"/>
            <a:ext cx="914400" cy="548640"/>
          </a:xfrm>
          <a:prstGeom prst="rect">
            <a:avLst/>
          </a:prstGeom>
          <a:solidFill>
            <a:srgbClr val="F2F6FA"/>
          </a:solidFill>
          <a:ln w="9525">
            <a:solidFill>
              <a:srgbClr val="21295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7" name="Text37"/>
          <p:cNvSpPr txBox="1"/>
          <p:nvPr/>
        </p:nvSpPr>
        <p:spPr>
          <a:xfrm>
            <a:off x="8183880" y="3429000"/>
            <a:ext cx="914400" cy="5486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ja-JP" sz="1100">
                <a:solidFill>
                  <a:srgbClr val="2A2A33"/>
                </a:solidFill>
                <a:latin typeface="Calibri"/>
                <a:ea typeface="Yu Gothic UI"/>
              </a:rPr>
              <a:t>VM</a:t>
            </a:r>
          </a:p>
        </p:txBody>
      </p:sp>
      <p:sp>
        <p:nvSpPr>
          <p:cNvPr id="38" name="Rect38"/>
          <p:cNvSpPr/>
          <p:nvPr/>
        </p:nvSpPr>
        <p:spPr>
          <a:xfrm>
            <a:off x="9235440" y="3429000"/>
            <a:ext cx="914400" cy="548640"/>
          </a:xfrm>
          <a:prstGeom prst="rect">
            <a:avLst/>
          </a:prstGeom>
          <a:solidFill>
            <a:srgbClr val="F2F6FA"/>
          </a:solidFill>
          <a:ln w="9525">
            <a:solidFill>
              <a:srgbClr val="21295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9" name="Text39"/>
          <p:cNvSpPr txBox="1"/>
          <p:nvPr/>
        </p:nvSpPr>
        <p:spPr>
          <a:xfrm>
            <a:off x="9235440" y="3429000"/>
            <a:ext cx="914400" cy="5486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ja-JP" sz="1100">
                <a:solidFill>
                  <a:srgbClr val="2A2A33"/>
                </a:solidFill>
                <a:latin typeface="Calibri"/>
                <a:ea typeface="Yu Gothic UI"/>
              </a:rPr>
              <a:t>VM</a:t>
            </a:r>
          </a:p>
        </p:txBody>
      </p:sp>
      <p:sp>
        <p:nvSpPr>
          <p:cNvPr id="40" name="Rect40"/>
          <p:cNvSpPr/>
          <p:nvPr/>
        </p:nvSpPr>
        <p:spPr>
          <a:xfrm>
            <a:off x="8092440" y="4160520"/>
            <a:ext cx="2880360" cy="594360"/>
          </a:xfrm>
          <a:prstGeom prst="rect">
            <a:avLst/>
          </a:prstGeom>
          <a:solidFill>
            <a:srgbClr val="E874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" name="Text41"/>
          <p:cNvSpPr txBox="1"/>
          <p:nvPr/>
        </p:nvSpPr>
        <p:spPr>
          <a:xfrm>
            <a:off x="8092440" y="4160520"/>
            <a:ext cx="2880360" cy="5943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ja-JP" sz="1000" b="1">
                <a:solidFill>
                  <a:srgbClr val="FFFFFF"/>
                </a:solidFill>
                <a:latin typeface="Calibri"/>
                <a:ea typeface="Yu Gothic UI"/>
              </a:rPr>
              <a:t>CVM(コントローラVM)</a:t>
            </a:r>
          </a:p>
        </p:txBody>
      </p:sp>
      <p:sp>
        <p:nvSpPr>
          <p:cNvPr id="42" name="Rect42"/>
          <p:cNvSpPr/>
          <p:nvPr/>
        </p:nvSpPr>
        <p:spPr>
          <a:xfrm>
            <a:off x="8092440" y="4892040"/>
            <a:ext cx="2880360" cy="5029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3" name="Text43"/>
          <p:cNvSpPr txBox="1"/>
          <p:nvPr/>
        </p:nvSpPr>
        <p:spPr>
          <a:xfrm>
            <a:off x="8092440" y="4892040"/>
            <a:ext cx="2880360" cy="5029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ja-JP" sz="1000">
                <a:solidFill>
                  <a:srgbClr val="FFFFFF"/>
                </a:solidFill>
                <a:latin typeface="Calibri"/>
                <a:ea typeface="Yu Gothic UI"/>
              </a:rPr>
              <a:t>ローカルSSD/HDD</a:t>
            </a:r>
          </a:p>
        </p:txBody>
      </p:sp>
      <p:sp>
        <p:nvSpPr>
          <p:cNvPr id="44" name="Rect44"/>
          <p:cNvSpPr/>
          <p:nvPr/>
        </p:nvSpPr>
        <p:spPr>
          <a:xfrm>
            <a:off x="868680" y="5669280"/>
            <a:ext cx="10287000" cy="50292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5" name="Text45"/>
          <p:cNvSpPr txBox="1"/>
          <p:nvPr/>
        </p:nvSpPr>
        <p:spPr>
          <a:xfrm>
            <a:off x="868680" y="5669280"/>
            <a:ext cx="10287000" cy="5029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ja-JP" sz="1200" b="1">
                <a:solidFill>
                  <a:srgbClr val="FFFFFF"/>
                </a:solidFill>
                <a:latin typeface="Calibri"/>
                <a:ea typeface="Yu Gothic UI"/>
              </a:rPr>
              <a:t>Distributed Storage Fabric(全ノードのディスクを束ねた分散ストレージ)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3"/>
          <p:cNvSpPr txBox="1"/>
          <p:nvPr/>
        </p:nvSpPr>
        <p:spPr>
          <a:xfrm>
            <a:off x="548640" y="164592"/>
            <a:ext cx="731520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sz="1300" b="1">
                <a:solidFill>
                  <a:srgbClr val="9FD8DF"/>
                </a:solidFill>
                <a:latin typeface="Calibri"/>
                <a:ea typeface="Yu Gothic UI"/>
              </a:rPr>
              <a:t>WHY NUTANIX</a:t>
            </a:r>
          </a:p>
        </p:txBody>
      </p:sp>
      <p:sp>
        <p:nvSpPr>
          <p:cNvPr id="4" name="Text4"/>
          <p:cNvSpPr txBox="1"/>
          <p:nvPr/>
        </p:nvSpPr>
        <p:spPr>
          <a:xfrm>
            <a:off x="502920" y="411480"/>
            <a:ext cx="10058400" cy="5943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sz="2800" b="1">
                <a:solidFill>
                  <a:srgbClr val="FFFFFF"/>
                </a:solidFill>
                <a:latin typeface="Trebuchet MS"/>
                <a:ea typeface="Yu Gothic UI"/>
              </a:rPr>
              <a:t>Nutanixの主なメリット</a:t>
            </a:r>
          </a:p>
        </p:txBody>
      </p:sp>
      <p:sp>
        <p:nvSpPr>
          <p:cNvPr id="5" name="Oval5"/>
          <p:cNvSpPr/>
          <p:nvPr/>
        </p:nvSpPr>
        <p:spPr>
          <a:xfrm>
            <a:off x="11475720" y="320040"/>
            <a:ext cx="411480" cy="411480"/>
          </a:xfrm>
          <a:prstGeom prst="ellipse">
            <a:avLst/>
          </a:prstGeom>
          <a:solidFill>
            <a:srgbClr val="E874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Rect6"/>
          <p:cNvSpPr/>
          <p:nvPr/>
        </p:nvSpPr>
        <p:spPr>
          <a:xfrm>
            <a:off x="548640" y="1417320"/>
            <a:ext cx="3611880" cy="2194560"/>
          </a:xfrm>
          <a:prstGeom prst="roundRect">
            <a:avLst/>
          </a:prstGeom>
          <a:solidFill>
            <a:srgbClr val="F2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Oval7"/>
          <p:cNvSpPr/>
          <p:nvPr/>
        </p:nvSpPr>
        <p:spPr>
          <a:xfrm>
            <a:off x="777240" y="1645920"/>
            <a:ext cx="548640" cy="54864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Text8"/>
          <p:cNvSpPr txBox="1"/>
          <p:nvPr/>
        </p:nvSpPr>
        <p:spPr>
          <a:xfrm>
            <a:off x="777240" y="1664208"/>
            <a:ext cx="548640" cy="5120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ja-JP" sz="1800" b="1">
                <a:solidFill>
                  <a:srgbClr val="FFFFFF"/>
                </a:solidFill>
                <a:latin typeface="Calibri"/>
                <a:ea typeface="Yu Gothic UI"/>
              </a:rPr>
              <a:t>1</a:t>
            </a:r>
          </a:p>
        </p:txBody>
      </p:sp>
      <p:sp>
        <p:nvSpPr>
          <p:cNvPr id="9" name="Text9"/>
          <p:cNvSpPr txBox="1"/>
          <p:nvPr/>
        </p:nvSpPr>
        <p:spPr>
          <a:xfrm>
            <a:off x="1463040" y="1618488"/>
            <a:ext cx="2514600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sz="1400" b="1">
                <a:solidFill>
                  <a:srgbClr val="21295C"/>
                </a:solidFill>
                <a:latin typeface="Calibri"/>
                <a:ea typeface="Yu Gothic UI"/>
              </a:rPr>
              <a:t>シンプルな構成</a:t>
            </a:r>
          </a:p>
        </p:txBody>
      </p:sp>
      <p:sp>
        <p:nvSpPr>
          <p:cNvPr id="10" name="Text10"/>
          <p:cNvSpPr txBox="1"/>
          <p:nvPr/>
        </p:nvSpPr>
        <p:spPr>
          <a:xfrm>
            <a:off x="777240" y="2331720"/>
            <a:ext cx="3154680" cy="11887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ja-JP" sz="1150">
                <a:solidFill>
                  <a:srgbClr val="2A2A33"/>
                </a:solidFill>
                <a:latin typeface="Calibri"/>
                <a:ea typeface="Yu Gothic UI"/>
              </a:rPr>
              <a:t>サーバー・ストレージ・ネットワークを統合し、専用ストレージ機器が不要</a:t>
            </a:r>
          </a:p>
        </p:txBody>
      </p:sp>
      <p:sp>
        <p:nvSpPr>
          <p:cNvPr id="11" name="Rect11"/>
          <p:cNvSpPr/>
          <p:nvPr/>
        </p:nvSpPr>
        <p:spPr>
          <a:xfrm>
            <a:off x="4389120" y="1417320"/>
            <a:ext cx="3611880" cy="2194560"/>
          </a:xfrm>
          <a:prstGeom prst="roundRect">
            <a:avLst/>
          </a:prstGeom>
          <a:solidFill>
            <a:srgbClr val="F2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Oval12"/>
          <p:cNvSpPr/>
          <p:nvPr/>
        </p:nvSpPr>
        <p:spPr>
          <a:xfrm>
            <a:off x="4617720" y="1645920"/>
            <a:ext cx="548640" cy="54864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Text13"/>
          <p:cNvSpPr txBox="1"/>
          <p:nvPr/>
        </p:nvSpPr>
        <p:spPr>
          <a:xfrm>
            <a:off x="4617720" y="1664208"/>
            <a:ext cx="548640" cy="5120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ja-JP" sz="1800" b="1">
                <a:solidFill>
                  <a:srgbClr val="FFFFFF"/>
                </a:solidFill>
                <a:latin typeface="Calibri"/>
                <a:ea typeface="Yu Gothic UI"/>
              </a:rPr>
              <a:t>2</a:t>
            </a:r>
          </a:p>
        </p:txBody>
      </p:sp>
      <p:sp>
        <p:nvSpPr>
          <p:cNvPr id="14" name="Text14"/>
          <p:cNvSpPr txBox="1"/>
          <p:nvPr/>
        </p:nvSpPr>
        <p:spPr>
          <a:xfrm>
            <a:off x="5303520" y="1618488"/>
            <a:ext cx="2514600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sz="1400" b="1">
                <a:solidFill>
                  <a:srgbClr val="21295C"/>
                </a:solidFill>
                <a:latin typeface="Calibri"/>
                <a:ea typeface="Yu Gothic UI"/>
              </a:rPr>
              <a:t>容易なスケールアウト</a:t>
            </a:r>
          </a:p>
        </p:txBody>
      </p:sp>
      <p:sp>
        <p:nvSpPr>
          <p:cNvPr id="15" name="Text15"/>
          <p:cNvSpPr txBox="1"/>
          <p:nvPr/>
        </p:nvSpPr>
        <p:spPr>
          <a:xfrm>
            <a:off x="4617720" y="2331720"/>
            <a:ext cx="3154680" cy="11887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ja-JP" sz="1150">
                <a:solidFill>
                  <a:srgbClr val="2A2A33"/>
                </a:solidFill>
                <a:latin typeface="Calibri"/>
                <a:ea typeface="Yu Gothic UI"/>
              </a:rPr>
              <a:t>ノードを1台追加するだけでコンピュート/ストレージ性能を拡張できる</a:t>
            </a:r>
          </a:p>
        </p:txBody>
      </p:sp>
      <p:sp>
        <p:nvSpPr>
          <p:cNvPr id="16" name="Rect16"/>
          <p:cNvSpPr/>
          <p:nvPr/>
        </p:nvSpPr>
        <p:spPr>
          <a:xfrm>
            <a:off x="8229600" y="1417320"/>
            <a:ext cx="3611880" cy="2194560"/>
          </a:xfrm>
          <a:prstGeom prst="roundRect">
            <a:avLst/>
          </a:prstGeom>
          <a:solidFill>
            <a:srgbClr val="F2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Oval17"/>
          <p:cNvSpPr/>
          <p:nvPr/>
        </p:nvSpPr>
        <p:spPr>
          <a:xfrm>
            <a:off x="8458200" y="1645920"/>
            <a:ext cx="548640" cy="54864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Text18"/>
          <p:cNvSpPr txBox="1"/>
          <p:nvPr/>
        </p:nvSpPr>
        <p:spPr>
          <a:xfrm>
            <a:off x="8458200" y="1664208"/>
            <a:ext cx="548640" cy="5120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ja-JP" sz="1800" b="1">
                <a:solidFill>
                  <a:srgbClr val="FFFFFF"/>
                </a:solidFill>
                <a:latin typeface="Calibri"/>
                <a:ea typeface="Yu Gothic UI"/>
              </a:rPr>
              <a:t>3</a:t>
            </a:r>
          </a:p>
        </p:txBody>
      </p:sp>
      <p:sp>
        <p:nvSpPr>
          <p:cNvPr id="19" name="Text19"/>
          <p:cNvSpPr txBox="1"/>
          <p:nvPr/>
        </p:nvSpPr>
        <p:spPr>
          <a:xfrm>
            <a:off x="9144000" y="1618488"/>
            <a:ext cx="2514600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sz="1400" b="1">
                <a:solidFill>
                  <a:srgbClr val="21295C"/>
                </a:solidFill>
                <a:latin typeface="Calibri"/>
                <a:ea typeface="Yu Gothic UI"/>
              </a:rPr>
              <a:t>高い可用性</a:t>
            </a:r>
          </a:p>
        </p:txBody>
      </p:sp>
      <p:sp>
        <p:nvSpPr>
          <p:cNvPr id="20" name="Text20"/>
          <p:cNvSpPr txBox="1"/>
          <p:nvPr/>
        </p:nvSpPr>
        <p:spPr>
          <a:xfrm>
            <a:off x="8458200" y="2331720"/>
            <a:ext cx="3154680" cy="11887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ja-JP" sz="1150">
                <a:solidFill>
                  <a:srgbClr val="2A2A33"/>
                </a:solidFill>
                <a:latin typeface="Calibri"/>
                <a:ea typeface="Yu Gothic UI"/>
              </a:rPr>
              <a:t>データを複数ノードに自動複製し、ノード障害時も自動でVMを継続稼働</a:t>
            </a:r>
          </a:p>
        </p:txBody>
      </p:sp>
      <p:sp>
        <p:nvSpPr>
          <p:cNvPr id="21" name="Rect21"/>
          <p:cNvSpPr/>
          <p:nvPr/>
        </p:nvSpPr>
        <p:spPr>
          <a:xfrm>
            <a:off x="548640" y="3840480"/>
            <a:ext cx="3611880" cy="2194560"/>
          </a:xfrm>
          <a:prstGeom prst="roundRect">
            <a:avLst/>
          </a:prstGeom>
          <a:solidFill>
            <a:srgbClr val="F2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Oval22"/>
          <p:cNvSpPr/>
          <p:nvPr/>
        </p:nvSpPr>
        <p:spPr>
          <a:xfrm>
            <a:off x="777240" y="4069080"/>
            <a:ext cx="548640" cy="54864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" name="Text23"/>
          <p:cNvSpPr txBox="1"/>
          <p:nvPr/>
        </p:nvSpPr>
        <p:spPr>
          <a:xfrm>
            <a:off x="777240" y="4087368"/>
            <a:ext cx="548640" cy="5120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ja-JP" sz="1800" b="1">
                <a:solidFill>
                  <a:srgbClr val="FFFFFF"/>
                </a:solidFill>
                <a:latin typeface="Calibri"/>
                <a:ea typeface="Yu Gothic UI"/>
              </a:rPr>
              <a:t>4</a:t>
            </a:r>
          </a:p>
        </p:txBody>
      </p:sp>
      <p:sp>
        <p:nvSpPr>
          <p:cNvPr id="24" name="Text24"/>
          <p:cNvSpPr txBox="1"/>
          <p:nvPr/>
        </p:nvSpPr>
        <p:spPr>
          <a:xfrm>
            <a:off x="1463040" y="4041648"/>
            <a:ext cx="2514600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sz="1400" b="1">
                <a:solidFill>
                  <a:srgbClr val="21295C"/>
                </a:solidFill>
                <a:latin typeface="Calibri"/>
                <a:ea typeface="Yu Gothic UI"/>
              </a:rPr>
              <a:t>一元管理(Prism)</a:t>
            </a:r>
          </a:p>
        </p:txBody>
      </p:sp>
      <p:sp>
        <p:nvSpPr>
          <p:cNvPr id="25" name="Text25"/>
          <p:cNvSpPr txBox="1"/>
          <p:nvPr/>
        </p:nvSpPr>
        <p:spPr>
          <a:xfrm>
            <a:off x="777240" y="4754880"/>
            <a:ext cx="3154680" cy="11887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ja-JP" sz="1150">
                <a:solidFill>
                  <a:srgbClr val="2A2A33"/>
                </a:solidFill>
                <a:latin typeface="Calibri"/>
                <a:ea typeface="Yu Gothic UI"/>
              </a:rPr>
              <a:t>直感的なGUIでクラスター監視・運用・トラブルシュートが可能</a:t>
            </a:r>
          </a:p>
        </p:txBody>
      </p:sp>
      <p:sp>
        <p:nvSpPr>
          <p:cNvPr id="26" name="Rect26"/>
          <p:cNvSpPr/>
          <p:nvPr/>
        </p:nvSpPr>
        <p:spPr>
          <a:xfrm>
            <a:off x="4389120" y="3840480"/>
            <a:ext cx="3611880" cy="2194560"/>
          </a:xfrm>
          <a:prstGeom prst="roundRect">
            <a:avLst/>
          </a:prstGeom>
          <a:solidFill>
            <a:srgbClr val="F2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7" name="Oval27"/>
          <p:cNvSpPr/>
          <p:nvPr/>
        </p:nvSpPr>
        <p:spPr>
          <a:xfrm>
            <a:off x="4617720" y="4069080"/>
            <a:ext cx="548640" cy="54864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8" name="Text28"/>
          <p:cNvSpPr txBox="1"/>
          <p:nvPr/>
        </p:nvSpPr>
        <p:spPr>
          <a:xfrm>
            <a:off x="4617720" y="4087368"/>
            <a:ext cx="548640" cy="5120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ja-JP" sz="1800" b="1">
                <a:solidFill>
                  <a:srgbClr val="FFFFFF"/>
                </a:solidFill>
                <a:latin typeface="Calibri"/>
                <a:ea typeface="Yu Gothic UI"/>
              </a:rPr>
              <a:t>5</a:t>
            </a:r>
          </a:p>
        </p:txBody>
      </p:sp>
      <p:sp>
        <p:nvSpPr>
          <p:cNvPr id="29" name="Text29"/>
          <p:cNvSpPr txBox="1"/>
          <p:nvPr/>
        </p:nvSpPr>
        <p:spPr>
          <a:xfrm>
            <a:off x="5303520" y="4041648"/>
            <a:ext cx="2514600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sz="1400" b="1">
                <a:solidFill>
                  <a:srgbClr val="21295C"/>
                </a:solidFill>
                <a:latin typeface="Calibri"/>
                <a:ea typeface="Yu Gothic UI"/>
              </a:rPr>
              <a:t>運用負荷の軽減</a:t>
            </a:r>
          </a:p>
        </p:txBody>
      </p:sp>
      <p:sp>
        <p:nvSpPr>
          <p:cNvPr id="30" name="Text30"/>
          <p:cNvSpPr txBox="1"/>
          <p:nvPr/>
        </p:nvSpPr>
        <p:spPr>
          <a:xfrm>
            <a:off x="4617720" y="4754880"/>
            <a:ext cx="3154680" cy="11887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ja-JP" sz="1150">
                <a:solidFill>
                  <a:srgbClr val="2A2A33"/>
                </a:solidFill>
                <a:latin typeface="Calibri"/>
                <a:ea typeface="Yu Gothic UI"/>
              </a:rPr>
              <a:t>ソフトウェア主体のためパッチ適用やアップグレードが自動化・簡素化</a:t>
            </a:r>
          </a:p>
        </p:txBody>
      </p:sp>
      <p:sp>
        <p:nvSpPr>
          <p:cNvPr id="31" name="Rect31"/>
          <p:cNvSpPr/>
          <p:nvPr/>
        </p:nvSpPr>
        <p:spPr>
          <a:xfrm>
            <a:off x="8229600" y="3840480"/>
            <a:ext cx="3611880" cy="2194560"/>
          </a:xfrm>
          <a:prstGeom prst="roundRect">
            <a:avLst/>
          </a:prstGeom>
          <a:solidFill>
            <a:srgbClr val="F2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Oval32"/>
          <p:cNvSpPr/>
          <p:nvPr/>
        </p:nvSpPr>
        <p:spPr>
          <a:xfrm>
            <a:off x="8458200" y="4069080"/>
            <a:ext cx="548640" cy="54864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" name="Text33"/>
          <p:cNvSpPr txBox="1"/>
          <p:nvPr/>
        </p:nvSpPr>
        <p:spPr>
          <a:xfrm>
            <a:off x="8458200" y="4087368"/>
            <a:ext cx="548640" cy="5120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ja-JP" sz="1800" b="1">
                <a:solidFill>
                  <a:srgbClr val="FFFFFF"/>
                </a:solidFill>
                <a:latin typeface="Calibri"/>
                <a:ea typeface="Yu Gothic UI"/>
              </a:rPr>
              <a:t>6</a:t>
            </a:r>
          </a:p>
        </p:txBody>
      </p:sp>
      <p:sp>
        <p:nvSpPr>
          <p:cNvPr id="34" name="Text34"/>
          <p:cNvSpPr txBox="1"/>
          <p:nvPr/>
        </p:nvSpPr>
        <p:spPr>
          <a:xfrm>
            <a:off x="9144000" y="4041648"/>
            <a:ext cx="2514600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sz="1400" b="1">
                <a:solidFill>
                  <a:srgbClr val="21295C"/>
                </a:solidFill>
                <a:latin typeface="Calibri"/>
                <a:ea typeface="Yu Gothic UI"/>
              </a:rPr>
              <a:t>導入の柔軟性</a:t>
            </a:r>
          </a:p>
        </p:txBody>
      </p:sp>
      <p:sp>
        <p:nvSpPr>
          <p:cNvPr id="35" name="Text35"/>
          <p:cNvSpPr txBox="1"/>
          <p:nvPr/>
        </p:nvSpPr>
        <p:spPr>
          <a:xfrm>
            <a:off x="8458200" y="4754880"/>
            <a:ext cx="3154680" cy="11887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lang="ja-JP" sz="1150">
                <a:solidFill>
                  <a:srgbClr val="2A2A33"/>
                </a:solidFill>
                <a:latin typeface="Calibri"/>
                <a:ea typeface="Yu Gothic UI"/>
              </a:rPr>
              <a:t>小規模から始めて必要に応じて段階的に拡張できる(段階的投資)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3"/>
          <p:cNvSpPr txBox="1"/>
          <p:nvPr/>
        </p:nvSpPr>
        <p:spPr>
          <a:xfrm>
            <a:off x="548640" y="164592"/>
            <a:ext cx="731520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sz="1300" b="1">
                <a:solidFill>
                  <a:srgbClr val="9FD8DF"/>
                </a:solidFill>
                <a:latin typeface="Calibri"/>
                <a:ea typeface="Yu Gothic UI"/>
              </a:rPr>
              <a:t>COMPARISON</a:t>
            </a:r>
          </a:p>
        </p:txBody>
      </p:sp>
      <p:sp>
        <p:nvSpPr>
          <p:cNvPr id="4" name="Text4"/>
          <p:cNvSpPr txBox="1"/>
          <p:nvPr/>
        </p:nvSpPr>
        <p:spPr>
          <a:xfrm>
            <a:off x="502920" y="411480"/>
            <a:ext cx="10058400" cy="5943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sz="2800" b="1">
                <a:solidFill>
                  <a:srgbClr val="FFFFFF"/>
                </a:solidFill>
                <a:latin typeface="Trebuchet MS"/>
                <a:ea typeface="Yu Gothic UI"/>
              </a:rPr>
              <a:t>従来型 vs Nutanix(HCI)</a:t>
            </a:r>
          </a:p>
        </p:txBody>
      </p:sp>
      <p:sp>
        <p:nvSpPr>
          <p:cNvPr id="5" name="Oval5"/>
          <p:cNvSpPr/>
          <p:nvPr/>
        </p:nvSpPr>
        <p:spPr>
          <a:xfrm>
            <a:off x="11475720" y="320040"/>
            <a:ext cx="411480" cy="411480"/>
          </a:xfrm>
          <a:prstGeom prst="ellipse">
            <a:avLst/>
          </a:prstGeom>
          <a:solidFill>
            <a:srgbClr val="E874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Rect6"/>
          <p:cNvSpPr/>
          <p:nvPr/>
        </p:nvSpPr>
        <p:spPr>
          <a:xfrm>
            <a:off x="548640" y="1417320"/>
            <a:ext cx="10927080" cy="54864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Text7"/>
          <p:cNvSpPr txBox="1"/>
          <p:nvPr/>
        </p:nvSpPr>
        <p:spPr>
          <a:xfrm>
            <a:off x="548640" y="1417320"/>
            <a:ext cx="2194560" cy="5486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ja-JP" sz="1300" b="1">
                <a:solidFill>
                  <a:srgbClr val="FFFFFF"/>
                </a:solidFill>
                <a:latin typeface="Calibri"/>
                <a:ea typeface="Yu Gothic UI"/>
              </a:rPr>
              <a:t>項目</a:t>
            </a:r>
          </a:p>
        </p:txBody>
      </p:sp>
      <p:sp>
        <p:nvSpPr>
          <p:cNvPr id="8" name="Text8"/>
          <p:cNvSpPr txBox="1"/>
          <p:nvPr/>
        </p:nvSpPr>
        <p:spPr>
          <a:xfrm>
            <a:off x="2743200" y="1417320"/>
            <a:ext cx="4206240" cy="5486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ja-JP" sz="1300" b="1">
                <a:solidFill>
                  <a:srgbClr val="FFFFFF"/>
                </a:solidFill>
                <a:latin typeface="Calibri"/>
                <a:ea typeface="Yu Gothic UI"/>
              </a:rPr>
              <a:t>従来型(3層構成)</a:t>
            </a:r>
          </a:p>
        </p:txBody>
      </p:sp>
      <p:sp>
        <p:nvSpPr>
          <p:cNvPr id="9" name="Text9"/>
          <p:cNvSpPr txBox="1"/>
          <p:nvPr/>
        </p:nvSpPr>
        <p:spPr>
          <a:xfrm>
            <a:off x="6949440" y="1417320"/>
            <a:ext cx="4526280" cy="5486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ja-JP" sz="1300" b="1">
                <a:solidFill>
                  <a:srgbClr val="FFFFFF"/>
                </a:solidFill>
                <a:latin typeface="Calibri"/>
                <a:ea typeface="Yu Gothic UI"/>
              </a:rPr>
              <a:t>Nutanix(HCI)</a:t>
            </a:r>
          </a:p>
        </p:txBody>
      </p:sp>
      <p:sp>
        <p:nvSpPr>
          <p:cNvPr id="10" name="Rect10"/>
          <p:cNvSpPr/>
          <p:nvPr/>
        </p:nvSpPr>
        <p:spPr>
          <a:xfrm>
            <a:off x="548640" y="1965960"/>
            <a:ext cx="10927080" cy="77724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Text11"/>
          <p:cNvSpPr txBox="1"/>
          <p:nvPr/>
        </p:nvSpPr>
        <p:spPr>
          <a:xfrm>
            <a:off x="685800" y="1965960"/>
            <a:ext cx="1920240" cy="7772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lang="ja-JP" sz="1200" b="1">
                <a:solidFill>
                  <a:srgbClr val="21295C"/>
                </a:solidFill>
                <a:latin typeface="Calibri"/>
                <a:ea typeface="Yu Gothic UI"/>
              </a:rPr>
              <a:t>構成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2880360" y="1965960"/>
            <a:ext cx="3931920" cy="7772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lang="ja-JP" sz="1150">
                <a:solidFill>
                  <a:srgbClr val="2A2A33"/>
                </a:solidFill>
                <a:latin typeface="Calibri"/>
                <a:ea typeface="Yu Gothic UI"/>
              </a:rPr>
              <a:t>サーバー/ストレージ/ネットワークが個別機器</a:t>
            </a:r>
          </a:p>
        </p:txBody>
      </p:sp>
      <p:sp>
        <p:nvSpPr>
          <p:cNvPr id="13" name="Text13"/>
          <p:cNvSpPr txBox="1"/>
          <p:nvPr/>
        </p:nvSpPr>
        <p:spPr>
          <a:xfrm>
            <a:off x="7086600" y="1965960"/>
            <a:ext cx="4251960" cy="7772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lang="ja-JP" sz="1150" b="1">
                <a:solidFill>
                  <a:srgbClr val="065A82"/>
                </a:solidFill>
                <a:latin typeface="Calibri"/>
                <a:ea typeface="Yu Gothic UI"/>
              </a:rPr>
              <a:t>x86サーバーに統合(ソフトウェア定義)</a:t>
            </a:r>
          </a:p>
        </p:txBody>
      </p:sp>
      <p:cxnSp>
        <p:nvCxnSpPr>
          <p:cNvPr id="14" name="Line14"/>
          <p:cNvCxnSpPr/>
          <p:nvPr/>
        </p:nvCxnSpPr>
        <p:spPr>
          <a:xfrm>
            <a:off x="548640" y="2743200"/>
            <a:ext cx="10927080" cy="914"/>
          </a:xfrm>
          <a:prstGeom prst="line">
            <a:avLst/>
          </a:prstGeom>
          <a:ln w="6350">
            <a:solidFill>
              <a:srgbClr val="D8DEE8"/>
            </a:solidFill>
          </a:ln>
        </p:spPr>
      </p:cxnSp>
      <p:sp>
        <p:nvSpPr>
          <p:cNvPr id="15" name="Rect15"/>
          <p:cNvSpPr/>
          <p:nvPr/>
        </p:nvSpPr>
        <p:spPr>
          <a:xfrm>
            <a:off x="548640" y="2743200"/>
            <a:ext cx="109270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Text16"/>
          <p:cNvSpPr txBox="1"/>
          <p:nvPr/>
        </p:nvSpPr>
        <p:spPr>
          <a:xfrm>
            <a:off x="685800" y="2743200"/>
            <a:ext cx="1920240" cy="7772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lang="ja-JP" sz="1200" b="1">
                <a:solidFill>
                  <a:srgbClr val="21295C"/>
                </a:solidFill>
                <a:latin typeface="Calibri"/>
                <a:ea typeface="Yu Gothic UI"/>
              </a:rPr>
              <a:t>拡張方法</a:t>
            </a:r>
          </a:p>
        </p:txBody>
      </p:sp>
      <p:sp>
        <p:nvSpPr>
          <p:cNvPr id="17" name="Text17"/>
          <p:cNvSpPr txBox="1"/>
          <p:nvPr/>
        </p:nvSpPr>
        <p:spPr>
          <a:xfrm>
            <a:off x="2880360" y="2743200"/>
            <a:ext cx="3931920" cy="7772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lang="ja-JP" sz="1150">
                <a:solidFill>
                  <a:srgbClr val="2A2A33"/>
                </a:solidFill>
                <a:latin typeface="Calibri"/>
                <a:ea typeface="Yu Gothic UI"/>
              </a:rPr>
              <a:t>機器ごとに個別調達・増設が必要</a:t>
            </a:r>
          </a:p>
        </p:txBody>
      </p:sp>
      <p:sp>
        <p:nvSpPr>
          <p:cNvPr id="18" name="Text18"/>
          <p:cNvSpPr txBox="1"/>
          <p:nvPr/>
        </p:nvSpPr>
        <p:spPr>
          <a:xfrm>
            <a:off x="7086600" y="2743200"/>
            <a:ext cx="4251960" cy="7772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lang="ja-JP" sz="1150" b="1">
                <a:solidFill>
                  <a:srgbClr val="065A82"/>
                </a:solidFill>
                <a:latin typeface="Calibri"/>
                <a:ea typeface="Yu Gothic UI"/>
              </a:rPr>
              <a:t>ノード追加のみでスケールアウト</a:t>
            </a:r>
          </a:p>
        </p:txBody>
      </p:sp>
      <p:cxnSp>
        <p:nvCxnSpPr>
          <p:cNvPr id="19" name="Line19"/>
          <p:cNvCxnSpPr/>
          <p:nvPr/>
        </p:nvCxnSpPr>
        <p:spPr>
          <a:xfrm>
            <a:off x="548640" y="3520440"/>
            <a:ext cx="10927080" cy="914"/>
          </a:xfrm>
          <a:prstGeom prst="line">
            <a:avLst/>
          </a:prstGeom>
          <a:ln w="6350">
            <a:solidFill>
              <a:srgbClr val="D8DEE8"/>
            </a:solidFill>
          </a:ln>
        </p:spPr>
      </p:cxnSp>
      <p:sp>
        <p:nvSpPr>
          <p:cNvPr id="20" name="Rect20"/>
          <p:cNvSpPr/>
          <p:nvPr/>
        </p:nvSpPr>
        <p:spPr>
          <a:xfrm>
            <a:off x="548640" y="3520440"/>
            <a:ext cx="10927080" cy="77724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Text21"/>
          <p:cNvSpPr txBox="1"/>
          <p:nvPr/>
        </p:nvSpPr>
        <p:spPr>
          <a:xfrm>
            <a:off x="685800" y="3520440"/>
            <a:ext cx="1920240" cy="7772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lang="ja-JP" sz="1200" b="1">
                <a:solidFill>
                  <a:srgbClr val="21295C"/>
                </a:solidFill>
                <a:latin typeface="Calibri"/>
                <a:ea typeface="Yu Gothic UI"/>
              </a:rPr>
              <a:t>管理</a:t>
            </a:r>
          </a:p>
        </p:txBody>
      </p:sp>
      <p:sp>
        <p:nvSpPr>
          <p:cNvPr id="22" name="Text22"/>
          <p:cNvSpPr txBox="1"/>
          <p:nvPr/>
        </p:nvSpPr>
        <p:spPr>
          <a:xfrm>
            <a:off x="2880360" y="3520440"/>
            <a:ext cx="3931920" cy="7772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lang="ja-JP" sz="1150">
                <a:solidFill>
                  <a:srgbClr val="2A2A33"/>
                </a:solidFill>
                <a:latin typeface="Calibri"/>
                <a:ea typeface="Yu Gothic UI"/>
              </a:rPr>
              <a:t>機器ごとに異なる管理ツール</a:t>
            </a:r>
          </a:p>
        </p:txBody>
      </p:sp>
      <p:sp>
        <p:nvSpPr>
          <p:cNvPr id="23" name="Text23"/>
          <p:cNvSpPr txBox="1"/>
          <p:nvPr/>
        </p:nvSpPr>
        <p:spPr>
          <a:xfrm>
            <a:off x="7086600" y="3520440"/>
            <a:ext cx="4251960" cy="7772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lang="ja-JP" sz="1150" b="1">
                <a:solidFill>
                  <a:srgbClr val="065A82"/>
                </a:solidFill>
                <a:latin typeface="Calibri"/>
                <a:ea typeface="Yu Gothic UI"/>
              </a:rPr>
              <a:t>Prismで一元管理</a:t>
            </a:r>
          </a:p>
        </p:txBody>
      </p:sp>
      <p:cxnSp>
        <p:nvCxnSpPr>
          <p:cNvPr id="24" name="Line24"/>
          <p:cNvCxnSpPr/>
          <p:nvPr/>
        </p:nvCxnSpPr>
        <p:spPr>
          <a:xfrm>
            <a:off x="548640" y="4297680"/>
            <a:ext cx="10927080" cy="914"/>
          </a:xfrm>
          <a:prstGeom prst="line">
            <a:avLst/>
          </a:prstGeom>
          <a:ln w="6350">
            <a:solidFill>
              <a:srgbClr val="D8DEE8"/>
            </a:solidFill>
          </a:ln>
        </p:spPr>
      </p:cxnSp>
      <p:sp>
        <p:nvSpPr>
          <p:cNvPr id="25" name="Rect25"/>
          <p:cNvSpPr/>
          <p:nvPr/>
        </p:nvSpPr>
        <p:spPr>
          <a:xfrm>
            <a:off x="548640" y="4297680"/>
            <a:ext cx="109270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" name="Text26"/>
          <p:cNvSpPr txBox="1"/>
          <p:nvPr/>
        </p:nvSpPr>
        <p:spPr>
          <a:xfrm>
            <a:off x="685800" y="4297680"/>
            <a:ext cx="1920240" cy="7772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lang="ja-JP" sz="1200" b="1">
                <a:solidFill>
                  <a:srgbClr val="21295C"/>
                </a:solidFill>
                <a:latin typeface="Calibri"/>
                <a:ea typeface="Yu Gothic UI"/>
              </a:rPr>
              <a:t>導入期間</a:t>
            </a:r>
          </a:p>
        </p:txBody>
      </p:sp>
      <p:sp>
        <p:nvSpPr>
          <p:cNvPr id="27" name="Text27"/>
          <p:cNvSpPr txBox="1"/>
          <p:nvPr/>
        </p:nvSpPr>
        <p:spPr>
          <a:xfrm>
            <a:off x="2880360" y="4297680"/>
            <a:ext cx="3931920" cy="7772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lang="ja-JP" sz="1150">
                <a:solidFill>
                  <a:srgbClr val="2A2A33"/>
                </a:solidFill>
                <a:latin typeface="Calibri"/>
                <a:ea typeface="Yu Gothic UI"/>
              </a:rPr>
              <a:t>設計・調達に数週間〜数ヶ月</a:t>
            </a:r>
          </a:p>
        </p:txBody>
      </p:sp>
      <p:sp>
        <p:nvSpPr>
          <p:cNvPr id="28" name="Text28"/>
          <p:cNvSpPr txBox="1"/>
          <p:nvPr/>
        </p:nvSpPr>
        <p:spPr>
          <a:xfrm>
            <a:off x="7086600" y="4297680"/>
            <a:ext cx="4251960" cy="7772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lang="ja-JP" sz="1150" b="1">
                <a:solidFill>
                  <a:srgbClr val="065A82"/>
                </a:solidFill>
                <a:latin typeface="Calibri"/>
                <a:ea typeface="Yu Gothic UI"/>
              </a:rPr>
              <a:t>比較的短期間で構築可能</a:t>
            </a:r>
          </a:p>
        </p:txBody>
      </p:sp>
      <p:cxnSp>
        <p:nvCxnSpPr>
          <p:cNvPr id="29" name="Line29"/>
          <p:cNvCxnSpPr/>
          <p:nvPr/>
        </p:nvCxnSpPr>
        <p:spPr>
          <a:xfrm>
            <a:off x="548640" y="5074920"/>
            <a:ext cx="10927080" cy="914"/>
          </a:xfrm>
          <a:prstGeom prst="line">
            <a:avLst/>
          </a:prstGeom>
          <a:ln w="6350">
            <a:solidFill>
              <a:srgbClr val="D8DEE8"/>
            </a:solidFill>
          </a:ln>
        </p:spPr>
      </p:cxnSp>
      <p:sp>
        <p:nvSpPr>
          <p:cNvPr id="30" name="Rect30"/>
          <p:cNvSpPr/>
          <p:nvPr/>
        </p:nvSpPr>
        <p:spPr>
          <a:xfrm>
            <a:off x="548640" y="5074920"/>
            <a:ext cx="10927080" cy="77724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ext31"/>
          <p:cNvSpPr txBox="1"/>
          <p:nvPr/>
        </p:nvSpPr>
        <p:spPr>
          <a:xfrm>
            <a:off x="685800" y="5074920"/>
            <a:ext cx="1920240" cy="7772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lang="ja-JP" sz="1200" b="1">
                <a:solidFill>
                  <a:srgbClr val="21295C"/>
                </a:solidFill>
                <a:latin typeface="Calibri"/>
                <a:ea typeface="Yu Gothic UI"/>
              </a:rPr>
              <a:t>初期投資</a:t>
            </a:r>
          </a:p>
        </p:txBody>
      </p:sp>
      <p:sp>
        <p:nvSpPr>
          <p:cNvPr id="32" name="Text32"/>
          <p:cNvSpPr txBox="1"/>
          <p:nvPr/>
        </p:nvSpPr>
        <p:spPr>
          <a:xfrm>
            <a:off x="2880360" y="5074920"/>
            <a:ext cx="3931920" cy="7772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lang="ja-JP" sz="1150">
                <a:solidFill>
                  <a:srgbClr val="2A2A33"/>
                </a:solidFill>
                <a:latin typeface="Calibri"/>
                <a:ea typeface="Yu Gothic UI"/>
              </a:rPr>
              <a:t>将来規模を見越した大型投資</a:t>
            </a:r>
          </a:p>
        </p:txBody>
      </p:sp>
      <p:sp>
        <p:nvSpPr>
          <p:cNvPr id="33" name="Text33"/>
          <p:cNvSpPr txBox="1"/>
          <p:nvPr/>
        </p:nvSpPr>
        <p:spPr>
          <a:xfrm>
            <a:off x="7086600" y="5074920"/>
            <a:ext cx="4251960" cy="7772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lang="ja-JP" sz="1150" b="1">
                <a:solidFill>
                  <a:srgbClr val="065A82"/>
                </a:solidFill>
                <a:latin typeface="Calibri"/>
                <a:ea typeface="Yu Gothic UI"/>
              </a:rPr>
              <a:t>必要な分から始めて段階的に投資</a:t>
            </a:r>
          </a:p>
        </p:txBody>
      </p:sp>
      <p:cxnSp>
        <p:nvCxnSpPr>
          <p:cNvPr id="34" name="Line34"/>
          <p:cNvCxnSpPr/>
          <p:nvPr/>
        </p:nvCxnSpPr>
        <p:spPr>
          <a:xfrm>
            <a:off x="548640" y="5852160"/>
            <a:ext cx="10927080" cy="914"/>
          </a:xfrm>
          <a:prstGeom prst="line">
            <a:avLst/>
          </a:prstGeom>
          <a:ln w="6350">
            <a:solidFill>
              <a:srgbClr val="D8DEE8"/>
            </a:solidFill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Oval3"/>
          <p:cNvSpPr/>
          <p:nvPr/>
        </p:nvSpPr>
        <p:spPr>
          <a:xfrm>
            <a:off x="-1097280" y="4389120"/>
            <a:ext cx="5029200" cy="50292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ext4"/>
          <p:cNvSpPr txBox="1"/>
          <p:nvPr/>
        </p:nvSpPr>
        <p:spPr>
          <a:xfrm>
            <a:off x="822960" y="822960"/>
            <a:ext cx="91440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sz="1600" b="1">
                <a:solidFill>
                  <a:srgbClr val="9FD8DF"/>
                </a:solidFill>
                <a:latin typeface="Calibri"/>
                <a:ea typeface="Yu Gothic UI"/>
              </a:rPr>
              <a:t>まとめ</a:t>
            </a:r>
          </a:p>
        </p:txBody>
      </p:sp>
      <p:sp>
        <p:nvSpPr>
          <p:cNvPr id="5" name="Text5"/>
          <p:cNvSpPr txBox="1"/>
          <p:nvPr/>
        </p:nvSpPr>
        <p:spPr>
          <a:xfrm>
            <a:off x="777240" y="1188720"/>
            <a:ext cx="1005840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sz="3400" b="1">
                <a:solidFill>
                  <a:srgbClr val="FFFFFF"/>
                </a:solidFill>
                <a:latin typeface="Trebuchet MS"/>
                <a:ea typeface="Yu Gothic UI"/>
              </a:rPr>
              <a:t>今日のポイント</a:t>
            </a:r>
          </a:p>
        </p:txBody>
      </p:sp>
      <p:sp>
        <p:nvSpPr>
          <p:cNvPr id="6" name="Bul6"/>
          <p:cNvSpPr txBox="1"/>
          <p:nvPr/>
        </p:nvSpPr>
        <p:spPr>
          <a:xfrm>
            <a:off x="822960" y="2286000"/>
            <a:ext cx="10241280" cy="34747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56032" indent="-256032">
              <a:spcAft>
                <a:spcPts val="1600"/>
              </a:spcAft>
              <a:buFont typeface="Arial"/>
              <a:buChar char="•"/>
            </a:pPr>
            <a:r>
              <a:rPr lang="ja-JP" sz="1700" b="0">
                <a:solidFill>
                  <a:srgbClr val="FFFFFF"/>
                </a:solidFill>
                <a:latin typeface="Calibri"/>
                <a:ea typeface="Yu Gothic UI"/>
              </a:rPr>
              <a:t>サーバー仮想化は、1台の物理サーバーで複数VMを動かす技術</a:t>
            </a:r>
          </a:p>
          <a:p>
            <a:pPr marL="256032" indent="-256032">
              <a:spcAft>
                <a:spcPts val="1600"/>
              </a:spcAft>
              <a:buFont typeface="Arial"/>
              <a:buChar char="•"/>
            </a:pPr>
            <a:r>
              <a:rPr lang="ja-JP" sz="1700" b="0">
                <a:solidFill>
                  <a:srgbClr val="FFFFFF"/>
                </a:solidFill>
                <a:latin typeface="Calibri"/>
                <a:ea typeface="Yu Gothic UI"/>
              </a:rPr>
              <a:t>従来型は サーバー/ストレージ/ネットワーク が個別機器で構成されていた</a:t>
            </a:r>
          </a:p>
          <a:p>
            <a:pPr marL="256032" indent="-256032">
              <a:spcAft>
                <a:spcPts val="1600"/>
              </a:spcAft>
              <a:buFont typeface="Arial"/>
              <a:buChar char="•"/>
            </a:pPr>
            <a:r>
              <a:rPr lang="ja-JP" sz="1700" b="0">
                <a:solidFill>
                  <a:srgbClr val="FFFFFF"/>
                </a:solidFill>
                <a:latin typeface="Calibri"/>
                <a:ea typeface="Yu Gothic UI"/>
              </a:rPr>
              <a:t>HCIはこれらをx86サーバー上のソフトウェアに統合したアーキテクチャ</a:t>
            </a:r>
          </a:p>
          <a:p>
            <a:pPr marL="256032" indent="-256032">
              <a:spcAft>
                <a:spcPts val="1600"/>
              </a:spcAft>
              <a:buFont typeface="Arial"/>
              <a:buChar char="•"/>
            </a:pPr>
            <a:r>
              <a:rPr lang="ja-JP" sz="1700" b="0">
                <a:solidFill>
                  <a:srgbClr val="FFFFFF"/>
                </a:solidFill>
                <a:latin typeface="Calibri"/>
                <a:ea typeface="Yu Gothic UI"/>
              </a:rPr>
              <a:t>Nutanixは AOS・AHV・Prism を中核とするHCI製品で、シンプルな運用と容易な拡張性を実現する</a:t>
            </a:r>
          </a:p>
        </p:txBody>
      </p:sp>
      <p:sp>
        <p:nvSpPr>
          <p:cNvPr id="7" name="Text7"/>
          <p:cNvSpPr txBox="1"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ja-JP" sz="1300">
                <a:solidFill>
                  <a:srgbClr val="9FD8DF"/>
                </a:solidFill>
                <a:latin typeface="Calibri"/>
                <a:ea typeface="Yu Gothic UI"/>
              </a:rPr>
              <a:t>ご質問があればお気軽にお声がけください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ceanGradient">
  <a:themeElements>
    <a:clrScheme name="OceanGradient">
      <a:dk1>
        <a:srgbClr val="21295C"/>
      </a:dk1>
      <a:lt1>
        <a:srgbClr val="FFFFFF"/>
      </a:lt1>
      <a:dk2>
        <a:srgbClr val="065A82"/>
      </a:dk2>
      <a:lt2>
        <a:srgbClr val="CADCFC"/>
      </a:lt2>
      <a:accent1>
        <a:srgbClr val="065A82"/>
      </a:accent1>
      <a:accent2>
        <a:srgbClr val="1C7293"/>
      </a:accent2>
      <a:accent3>
        <a:srgbClr val="21295C"/>
      </a:accent3>
      <a:accent4>
        <a:srgbClr val="9FD8DF"/>
      </a:accent4>
      <a:accent5>
        <a:srgbClr val="E8744A"/>
      </a:accent5>
      <a:accent6>
        <a:srgbClr val="F2F6FA"/>
      </a:accent6>
      <a:hlink>
        <a:srgbClr val="1C7293"/>
      </a:hlink>
      <a:folHlink>
        <a:srgbClr val="21295C"/>
      </a:folHlink>
    </a:clrScheme>
    <a:fontScheme name="OceanGradient">
      <a:majorFont>
        <a:latin typeface="Trebuchet MS"/>
        <a:ea typeface="Yu Gothic"/>
        <a:cs typeface="Yu Gothic"/>
      </a:majorFont>
      <a:minorFont>
        <a:latin typeface="Calibri"/>
        <a:ea typeface="Yu Gothic UI"/>
        <a:cs typeface="Yu Gothic UI"/>
      </a:minorFont>
    </a:fontScheme>
    <a:fmtScheme name="OceanGradien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Claude Code</Application>
  <PresentationFormat>On-screen Show (16:9)</PresentationFormat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仮想化基盤入門 - サーバ仮想化からNutanixまで</dc:title>
  <dc:creator>Claude</dc:creator>
  <cp:lastModifiedBy>Claude</cp:lastModifiedBy>
  <dcterms:created xsi:type="dcterms:W3CDTF">2026-06-16T00:00:00Z</dcterms:created>
  <dcterms:modified xsi:type="dcterms:W3CDTF">2026-06-16T00:00:00Z</dcterms:modified>
</cp:coreProperties>
</file>